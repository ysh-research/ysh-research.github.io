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83" r:id="rId3"/>
    <p:sldId id="286" r:id="rId4"/>
    <p:sldId id="287" r:id="rId5"/>
    <p:sldId id="289" r:id="rId6"/>
    <p:sldId id="290" r:id="rId7"/>
    <p:sldId id="302" r:id="rId8"/>
    <p:sldId id="295" r:id="rId9"/>
    <p:sldId id="296" r:id="rId10"/>
    <p:sldId id="303" r:id="rId11"/>
    <p:sldId id="304" r:id="rId12"/>
    <p:sldId id="298" r:id="rId13"/>
    <p:sldId id="306" r:id="rId14"/>
    <p:sldId id="307" r:id="rId15"/>
    <p:sldId id="297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제목 없는 섹션" id="{C6BA5B10-B07B-4591-8EB3-5A0A65AE9893}">
          <p14:sldIdLst>
            <p14:sldId id="256"/>
            <p14:sldId id="283"/>
            <p14:sldId id="286"/>
            <p14:sldId id="287"/>
            <p14:sldId id="289"/>
            <p14:sldId id="290"/>
            <p14:sldId id="302"/>
            <p14:sldId id="295"/>
            <p14:sldId id="296"/>
            <p14:sldId id="303"/>
            <p14:sldId id="304"/>
            <p14:sldId id="298"/>
            <p14:sldId id="306"/>
            <p14:sldId id="307"/>
            <p14:sldId id="2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0" d="100"/>
          <a:sy n="160" d="100"/>
        </p:scale>
        <p:origin x="114" y="9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EDD053C-BAAA-C351-28AA-A20306608B8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7EADD5A-C5C4-57D5-E710-F77985F4868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61FD9B-F624-43C9-B22F-0D673159E58C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671DB72-2024-73BE-E842-0A6B59C1029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F363F7-F061-FEF3-6864-B09861048E9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8C5A43-17D2-486C-8FFC-DF05DE044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31862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A21766-809D-4C70-8E4C-CA0D711AC63D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B62159-48CD-4B48-BFB0-8057643A385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806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74820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1731264"/>
            <a:ext cx="2478921" cy="42418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6327" y="1731264"/>
            <a:ext cx="7978140" cy="42418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9E84698-AA90-F3E4-F99B-70405568D926}"/>
              </a:ext>
            </a:extLst>
          </p:cNvPr>
          <p:cNvSpPr/>
          <p:nvPr userDrawn="1"/>
        </p:nvSpPr>
        <p:spPr>
          <a:xfrm>
            <a:off x="3267456" y="1731264"/>
            <a:ext cx="45719" cy="4241834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740A2B20-AA81-E195-44DD-88AFD62815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1/30/2026</a:t>
            </a:fld>
            <a:endParaRPr lang="en-US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54A432-8FC6-8D7C-921E-33EE1E250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742060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ECE1E7F2-6759-D411-CD6A-1F5F121680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FDE256-6051-3303-A109-51FB684BAD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1/30/2026</a:t>
            </a:fld>
            <a:endParaRPr lang="en-US" b="0" dirty="0"/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98FE9D0F-DB72-2C39-4DD7-95078731D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908548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7055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682496"/>
            <a:ext cx="10691265" cy="42467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내용 개체 틀 9">
            <a:extLst>
              <a:ext uri="{FF2B5EF4-FFF2-40B4-BE49-F238E27FC236}">
                <a16:creationId xmlns:a16="http://schemas.microsoft.com/office/drawing/2014/main" id="{99C5436F-FFEA-B8CC-8F28-10EB9C361FF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BD5DBF9F-1177-4B55-FC16-72E0C7F5B4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1/30/2026</a:t>
            </a:fld>
            <a:endParaRPr lang="en-US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E1DFFA-BA02-4C3C-012C-CCA6E4980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828399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8" name="내용 개체 틀 9">
            <a:extLst>
              <a:ext uri="{FF2B5EF4-FFF2-40B4-BE49-F238E27FC236}">
                <a16:creationId xmlns:a16="http://schemas.microsoft.com/office/drawing/2014/main" id="{A85CEB4F-87D5-5356-A051-D953956D8C3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9AC429-1A88-C0BC-F40A-16C6783491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1/30/2026</a:t>
            </a:fld>
            <a:endParaRPr lang="en-US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83B45D-59EE-DA16-3DB5-E52533EE2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63357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8" name="내용 개체 틀 9">
            <a:extLst>
              <a:ext uri="{FF2B5EF4-FFF2-40B4-BE49-F238E27FC236}">
                <a16:creationId xmlns:a16="http://schemas.microsoft.com/office/drawing/2014/main" id="{3E81A30A-E7CB-B1AE-22F0-B1DCA0C98F7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1197E4-F9E6-1AEB-7D67-E888DF3352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1/30/2026</a:t>
            </a:fld>
            <a:endParaRPr lang="en-US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18A3FF-1481-4021-20B7-272632691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93631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내용 개체 틀 9">
            <a:extLst>
              <a:ext uri="{FF2B5EF4-FFF2-40B4-BE49-F238E27FC236}">
                <a16:creationId xmlns:a16="http://schemas.microsoft.com/office/drawing/2014/main" id="{6B786780-0B32-7051-3F54-D0F027C9877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9AFA7094-A05A-D0CD-0335-CE6577EC35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1/30/2026</a:t>
            </a:fld>
            <a:endParaRPr lang="en-US" b="0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9D8288FC-07DE-2075-0659-D5D0DA44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253019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5383" y="919623"/>
            <a:ext cx="10640005" cy="761540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15384" y="2505075"/>
            <a:ext cx="5282192" cy="342377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42377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11" name="내용 개체 틀 9">
            <a:extLst>
              <a:ext uri="{FF2B5EF4-FFF2-40B4-BE49-F238E27FC236}">
                <a16:creationId xmlns:a16="http://schemas.microsoft.com/office/drawing/2014/main" id="{3A3BDAFD-3DE3-2465-E072-F3FC430D04C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262CF165-1AD5-F9A9-49F5-F1C526CB4E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1/30/2026</a:t>
            </a:fld>
            <a:endParaRPr lang="en-US" b="0" dirty="0"/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D0927724-D5C5-F919-1391-2DE460BCC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808087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7" name="내용 개체 틀 9">
            <a:extLst>
              <a:ext uri="{FF2B5EF4-FFF2-40B4-BE49-F238E27FC236}">
                <a16:creationId xmlns:a16="http://schemas.microsoft.com/office/drawing/2014/main" id="{6E1C46FB-E5BE-036B-6B4D-FBF12CBD541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6154142-B74E-2E39-9635-919BDBD08F1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1/30/2026</a:t>
            </a:fld>
            <a:endParaRPr lang="en-US" b="0" dirty="0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933ADF0A-60E4-DFBA-2573-BEAED6557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33078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내용 개체 틀 9">
            <a:extLst>
              <a:ext uri="{FF2B5EF4-FFF2-40B4-BE49-F238E27FC236}">
                <a16:creationId xmlns:a16="http://schemas.microsoft.com/office/drawing/2014/main" id="{DFD9F97F-D89B-A4D3-49C5-C28E47BD9E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0E64461-C323-00D5-9D57-2A0BA52E0B7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88258" y="1288473"/>
            <a:ext cx="10903108" cy="4580516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F696A1D-6AEE-86F8-3E1F-5ED3AB0CA5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426" y="781665"/>
            <a:ext cx="10912940" cy="506808"/>
          </a:xfrm>
        </p:spPr>
        <p:txBody>
          <a:bodyPr anchor="b"/>
          <a:lstStyle>
            <a:lvl1pPr>
              <a:defRPr sz="2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FA932B8E-E1F9-F56C-D424-D0DD8AFAB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1/30/2026</a:t>
            </a:fld>
            <a:endParaRPr lang="en-US" b="0" dirty="0"/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7D5EDDBC-BD15-EDA0-19E3-C1C7F85AB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725201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+mj-lt"/>
              </a:defRPr>
            </a:lvl1pPr>
            <a:lvl2pPr>
              <a:defRPr sz="2800">
                <a:latin typeface="+mj-lt"/>
              </a:defRPr>
            </a:lvl2pPr>
            <a:lvl3pPr>
              <a:defRPr sz="24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9" name="내용 개체 틀 9">
            <a:extLst>
              <a:ext uri="{FF2B5EF4-FFF2-40B4-BE49-F238E27FC236}">
                <a16:creationId xmlns:a16="http://schemas.microsoft.com/office/drawing/2014/main" id="{7A2D9B18-B788-ADA1-8408-D4ABB0DAAE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5" name="Date Placeholder 6">
            <a:extLst>
              <a:ext uri="{FF2B5EF4-FFF2-40B4-BE49-F238E27FC236}">
                <a16:creationId xmlns:a16="http://schemas.microsoft.com/office/drawing/2014/main" id="{ADDAA933-C539-5834-FA1C-E4CEFC0551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1/30/2026</a:t>
            </a:fld>
            <a:endParaRPr lang="en-US" b="0" dirty="0"/>
          </a:p>
        </p:txBody>
      </p:sp>
      <p:sp>
        <p:nvSpPr>
          <p:cNvPr id="16" name="Slide Number Placeholder 8">
            <a:extLst>
              <a:ext uri="{FF2B5EF4-FFF2-40B4-BE49-F238E27FC236}">
                <a16:creationId xmlns:a16="http://schemas.microsoft.com/office/drawing/2014/main" id="{B2831CDD-DAA7-E185-ED3B-01EFA462D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4275647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 anchor="t"/>
          <a:lstStyle>
            <a:lvl1pPr marL="0" indent="0">
              <a:buNone/>
              <a:defRPr sz="3200">
                <a:latin typeface="+mj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14" name="내용 개체 틀 9">
            <a:extLst>
              <a:ext uri="{FF2B5EF4-FFF2-40B4-BE49-F238E27FC236}">
                <a16:creationId xmlns:a16="http://schemas.microsoft.com/office/drawing/2014/main" id="{812C5E99-AE13-20E2-118B-E36DAAA56A6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0494F13-ACEB-30AF-B066-37587FD0FA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1/30/2026</a:t>
            </a:fld>
            <a:endParaRPr lang="en-US" b="0" dirty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ACA8D0F9-F3D8-7FE7-85AB-1DA23DCB7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862030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8" name="내용 개체 틀 9">
            <a:extLst>
              <a:ext uri="{FF2B5EF4-FFF2-40B4-BE49-F238E27FC236}">
                <a16:creationId xmlns:a16="http://schemas.microsoft.com/office/drawing/2014/main" id="{8FE5B2F9-7CEB-FE9B-E261-FDF16CB4E9D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57F15D69-413C-C82E-B876-4E53ACB79C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1/30/2026</a:t>
            </a:fld>
            <a:endParaRPr lang="en-US" b="0" dirty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6B7A67FF-CB28-51D5-7667-2AD8A9E62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8582219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 hasCustomPrompt="1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8" name="내용 개체 틀 9">
            <a:extLst>
              <a:ext uri="{FF2B5EF4-FFF2-40B4-BE49-F238E27FC236}">
                <a16:creationId xmlns:a16="http://schemas.microsoft.com/office/drawing/2014/main" id="{5C9EA5B6-8CB1-CE74-02BD-32903DA4ED2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78426" y="186558"/>
            <a:ext cx="3430278" cy="420687"/>
          </a:xfrm>
        </p:spPr>
        <p:txBody>
          <a:bodyPr/>
          <a:lstStyle>
            <a:lvl1pPr>
              <a:defRPr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E26FC516-7963-C28F-E3BE-A69D483850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1/30/2026</a:t>
            </a:fld>
            <a:endParaRPr lang="en-US" b="0" dirty="0"/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B4CE56F7-437D-BD91-EFAC-61B57EDFC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6133839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742430-68F2-2899-E6D1-063123A8B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4EADE9D-F274-63A2-C4CC-CB9FA4498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id="{B254D799-F997-6E90-3B7B-BCEE570354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1/30/2026</a:t>
            </a:fld>
            <a:endParaRPr lang="en-US" b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F67F9A-B021-6C5B-8DDD-BA774121B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183174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err="1">
                <a:solidFill>
                  <a:schemeClr val="tx1">
                    <a:lumMod val="65000"/>
                    <a:lumOff val="35000"/>
                  </a:schemeClr>
                </a:solidFill>
              </a:rPr>
              <a:t>SooHan</a:t>
            </a:r>
            <a:r>
              <a:rPr lang="en-US">
                <a:solidFill>
                  <a:schemeClr val="tx1">
                    <a:lumMod val="65000"/>
                    <a:lumOff val="35000"/>
                  </a:schemeClr>
                </a:solidFill>
              </a:rPr>
              <a:t> Yoon</a:t>
            </a:r>
            <a:r>
              <a:rPr lang="en-US"/>
              <a:t>
             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 descr="상징, 스케치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FFBA6F-F270-5AF2-B9D4-8997E676E8C8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0721" y="79029"/>
            <a:ext cx="717995" cy="717995"/>
          </a:xfrm>
          <a:prstGeom prst="rect">
            <a:avLst/>
          </a:prstGeom>
        </p:spPr>
      </p:pic>
      <p:sp>
        <p:nvSpPr>
          <p:cNvPr id="12" name="Date Placeholder 6">
            <a:extLst>
              <a:ext uri="{FF2B5EF4-FFF2-40B4-BE49-F238E27FC236}">
                <a16:creationId xmlns:a16="http://schemas.microsoft.com/office/drawing/2014/main" id="{F6FF66A4-8FC7-3291-D61D-5EB35E8F66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99353" y="6356350"/>
            <a:ext cx="2592594" cy="365125"/>
          </a:xfrm>
          <a:prstGeom prst="rect">
            <a:avLst/>
          </a:prstGeom>
        </p:spPr>
        <p:txBody>
          <a:bodyPr/>
          <a:lstStyle>
            <a:lvl1pPr>
              <a:defRPr sz="1400" b="0">
                <a:latin typeface="+mj-lt"/>
              </a:defRPr>
            </a:lvl1pPr>
          </a:lstStyle>
          <a:p>
            <a:fld id="{19CAD10D-99D1-46B2-A85A-C16850FCF8CF}" type="datetimeFigureOut">
              <a:rPr lang="en-US" smtClean="0"/>
              <a:pPr/>
              <a:t>1/30/2026</a:t>
            </a:fld>
            <a:endParaRPr lang="en-US" b="0" dirty="0"/>
          </a:p>
        </p:txBody>
      </p:sp>
      <p:sp>
        <p:nvSpPr>
          <p:cNvPr id="13" name="Slide Number Placeholder 8">
            <a:extLst>
              <a:ext uri="{FF2B5EF4-FFF2-40B4-BE49-F238E27FC236}">
                <a16:creationId xmlns:a16="http://schemas.microsoft.com/office/drawing/2014/main" id="{84EF316C-521E-8C35-CAAE-18E36CD15C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83034" y="6337877"/>
            <a:ext cx="672354" cy="365125"/>
          </a:xfrm>
          <a:prstGeom prst="rect">
            <a:avLst/>
          </a:prstGeom>
        </p:spPr>
        <p:txBody>
          <a:bodyPr/>
          <a:lstStyle>
            <a:lvl1pPr>
              <a:defRPr b="0">
                <a:latin typeface="+mj-lt"/>
              </a:defRPr>
            </a:lvl1pPr>
          </a:lstStyle>
          <a:p>
            <a:r>
              <a:rPr lang="en-US" dirty="0"/>
              <a:t>.</a:t>
            </a:r>
            <a:fld id="{E30AF5A0-43BB-4336-8627-9123B9144D80}" type="slidenum">
              <a:rPr lang="en-US" smtClean="0"/>
              <a:pPr/>
              <a:t>‹#›</a:t>
            </a:fld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673130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789" r:id="rId2"/>
    <p:sldLayoutId id="2147483800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  <p:sldLayoutId id="2147483798" r:id="rId12"/>
    <p:sldLayoutId id="2147483799" r:id="rId13"/>
    <p:sldLayoutId id="2147483802" r:id="rId14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672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pos="7176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3864">
          <p15:clr>
            <a:srgbClr val="F26B43"/>
          </p15:clr>
        </p15:guide>
        <p15:guide id="8" orient="horz" pos="4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9CB409-83FE-E1A1-A66E-341FFA5BB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024692"/>
          </a:xfrm>
        </p:spPr>
        <p:txBody>
          <a:bodyPr>
            <a:normAutofit fontScale="90000"/>
          </a:bodyPr>
          <a:lstStyle/>
          <a:p>
            <a:r>
              <a:rPr lang="en-US" altLang="ko-KR" sz="6000" dirty="0"/>
              <a:t>Regular Research Seminar</a:t>
            </a:r>
            <a:br>
              <a:rPr lang="en-US" altLang="ko-KR" sz="6000" dirty="0"/>
            </a:br>
            <a:br>
              <a:rPr lang="en-US" altLang="ko-KR" sz="6000" dirty="0"/>
            </a:br>
            <a:endParaRPr lang="en-US" altLang="ko-KR" sz="6000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27268F-36A1-5B2F-628B-80342C3A2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3838FAB-BBB1-95EF-2074-29F58AC8554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715383" y="4632566"/>
            <a:ext cx="6992938" cy="1303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Univers Condensed"/>
              </a:rPr>
              <a:t>Jan 29th</a:t>
            </a:r>
          </a:p>
          <a:p>
            <a:pPr marL="0" indent="0">
              <a:buNone/>
            </a:pP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Univers Condensed"/>
              </a:rPr>
              <a:t>2025298007 </a:t>
            </a:r>
          </a:p>
          <a:p>
            <a:pPr marL="0" indent="0">
              <a:buNone/>
            </a:pP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Univers Condensed"/>
              </a:rPr>
              <a:t>SuHan Yoon</a:t>
            </a:r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639E1D98-0F60-93D5-7B61-23C73EA32C45}"/>
              </a:ext>
            </a:extLst>
          </p:cNvPr>
          <p:cNvSpPr txBox="1">
            <a:spLocks/>
          </p:cNvSpPr>
          <p:nvPr/>
        </p:nvSpPr>
        <p:spPr>
          <a:xfrm>
            <a:off x="715383" y="1915439"/>
            <a:ext cx="10691265" cy="102469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E2E with Diffusion Model </a:t>
            </a:r>
            <a:r>
              <a:rPr lang="en-US" altLang="ko-KR" sz="36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Pallnning</a:t>
            </a:r>
            <a:endParaRPr lang="en-US" altLang="ko-KR" sz="3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1567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5D89B-2F2E-28D3-6222-AC6843259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BF6A209E-7868-C67B-5D29-52B54A68B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103" y="922096"/>
            <a:ext cx="10676797" cy="589790"/>
          </a:xfrm>
        </p:spPr>
        <p:txBody>
          <a:bodyPr>
            <a:normAutofit/>
          </a:bodyPr>
          <a:lstStyle/>
          <a:p>
            <a:r>
              <a:rPr lang="en-US" altLang="ko-KR" sz="2400" b="1" dirty="0">
                <a:latin typeface="Univers Condensed"/>
              </a:rPr>
              <a:t>TABLE OF CONTENTS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B046A7F5-C94A-0DCF-8A82-76D894615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103" y="1566749"/>
            <a:ext cx="10691265" cy="42467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/>
            <a:r>
              <a:rPr lang="ko-KR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Research</a:t>
            </a:r>
            <a:r>
              <a:rPr 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</a:t>
            </a:r>
            <a:r>
              <a:rPr lang="ko-KR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Goal</a:t>
            </a:r>
            <a:r>
              <a:rPr 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&amp; </a:t>
            </a:r>
            <a:r>
              <a:rPr lang="ko-KR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Workflow</a:t>
            </a:r>
            <a:r>
              <a:rPr 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</a:t>
            </a:r>
          </a:p>
          <a:p>
            <a:pPr marL="342900" indent="-342900"/>
            <a:r>
              <a:rPr lang="ko-KR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Exploring</a:t>
            </a:r>
            <a:r>
              <a:rPr 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</a:t>
            </a:r>
            <a:r>
              <a:rPr lang="ko-KR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Diffusion-based</a:t>
            </a:r>
            <a:r>
              <a:rPr 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</a:t>
            </a:r>
            <a:r>
              <a:rPr lang="ko-KR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papers</a:t>
            </a:r>
            <a:endParaRPr lang="ko-KR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  <a:ea typeface="+mn-lt"/>
              <a:cs typeface="+mn-lt"/>
            </a:endParaRPr>
          </a:p>
          <a:p>
            <a:pPr marL="342900" indent="-342900"/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Training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</a:t>
            </a:r>
            <a:r>
              <a:rPr lang="en-US" altLang="ko-KR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DiffusionDrive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v2</a:t>
            </a:r>
          </a:p>
          <a:p>
            <a:pPr marL="342900" indent="-342900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Training Diffusion-Planner</a:t>
            </a:r>
          </a:p>
          <a:p>
            <a:pPr marL="342900" indent="-342900"/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Developed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MLOps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Infrastructure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73915E1-2782-2BEB-2343-ECAF2BD72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D69A6E0-60C6-CFE2-DE98-1473B76D0F2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962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C6106-11D5-91BB-AD5F-5E97B8311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C8838EA9-3812-9669-C1AA-1B9A2C87F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1132770" cy="792346"/>
          </a:xfrm>
        </p:spPr>
        <p:txBody>
          <a:bodyPr>
            <a:normAutofit/>
          </a:bodyPr>
          <a:lstStyle/>
          <a:p>
            <a:r>
              <a:rPr lang="en-US" sz="2200" dirty="0">
                <a:ea typeface="+mj-lt"/>
                <a:cs typeface="+mj-lt"/>
              </a:rPr>
              <a:t>main research </a:t>
            </a:r>
            <a:r>
              <a:rPr lang="en-US" sz="2200" dirty="0"/>
              <a:t>directions</a:t>
            </a:r>
            <a:r>
              <a:rPr lang="en-US" sz="2200" dirty="0">
                <a:ea typeface="+mj-lt"/>
                <a:cs typeface="+mj-lt"/>
              </a:rPr>
              <a:t> for E2E autonomous driving based on my analysis</a:t>
            </a:r>
            <a:endParaRPr lang="ko-KR" altLang="en-US" sz="2200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52429775-096F-E21E-2B20-B2590F538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862" y="1832003"/>
            <a:ext cx="10691265" cy="424671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Explainable</a:t>
            </a:r>
            <a:r>
              <a:rPr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E2E</a:t>
            </a:r>
            <a:r>
              <a:rPr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with</a:t>
            </a:r>
            <a:r>
              <a:rPr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LLM/VLM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Use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VLM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&amp;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LLM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to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generate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semantic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explanations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of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driving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decisions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Goal: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improve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transparency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and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human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understanding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n-lt"/>
              <a:cs typeface="+mn-lt"/>
            </a:endParaRPr>
          </a:p>
          <a:p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Perception</a:t>
            </a:r>
            <a:r>
              <a:rPr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Backbone</a:t>
            </a:r>
            <a:r>
              <a:rPr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Modification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Investigate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different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backbone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architectures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for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perception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Analyze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their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impact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on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E2E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driving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performance</a:t>
            </a:r>
            <a:endParaRPr lang="ko-KR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n-lt"/>
              <a:cs typeface="+mn-lt"/>
            </a:endParaRPr>
          </a:p>
          <a:p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Planning</a:t>
            </a:r>
            <a:r>
              <a:rPr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Head</a:t>
            </a:r>
            <a:r>
              <a:rPr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Inference</a:t>
            </a:r>
            <a:r>
              <a:rPr lang="ko-KR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Strategy</a:t>
            </a:r>
            <a:endParaRPr lang="ko-KR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Modify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the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planning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head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architecture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and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inference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mechanism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Apply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reinforcement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learning-based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fine-tuning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to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improve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planning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n-lt"/>
                <a:cs typeface="+mn-lt"/>
              </a:rPr>
              <a:t>decisions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  <a:p>
            <a:pPr marL="342900" indent="-342900"/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6BBB013-84E7-3D6C-CB0C-3A4533116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E0C01D9-847D-CFEA-96E8-B8BB32DA7A2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ko-KR" altLang="en-US" dirty="0" err="1">
                <a:latin typeface="+mj-lt"/>
              </a:rPr>
              <a:t>Research</a:t>
            </a:r>
            <a:r>
              <a:rPr lang="ko-KR" altLang="en-US" dirty="0">
                <a:latin typeface="+mj-lt"/>
              </a:rPr>
              <a:t> </a:t>
            </a:r>
            <a:r>
              <a:rPr lang="ko-KR" altLang="en-US" dirty="0" err="1">
                <a:latin typeface="+mj-lt"/>
              </a:rPr>
              <a:t>Goal</a:t>
            </a:r>
            <a:r>
              <a:rPr lang="ko-KR" altLang="en-US" dirty="0">
                <a:latin typeface="+mj-lt"/>
              </a:rPr>
              <a:t> &amp; </a:t>
            </a:r>
            <a:r>
              <a:rPr lang="ko-KR" altLang="en-US" dirty="0" err="1">
                <a:latin typeface="+mj-lt"/>
              </a:rPr>
              <a:t>Workflow</a:t>
            </a:r>
            <a:endParaRPr lang="ko-KR" altLang="en-US" dirty="0">
              <a:latin typeface="+mj-lt"/>
            </a:endParaRPr>
          </a:p>
        </p:txBody>
      </p:sp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4B1D8481-2C5D-CAC8-B72F-829E0863D5DB}"/>
              </a:ext>
            </a:extLst>
          </p:cNvPr>
          <p:cNvSpPr/>
          <p:nvPr/>
        </p:nvSpPr>
        <p:spPr>
          <a:xfrm>
            <a:off x="9370391" y="5234608"/>
            <a:ext cx="434890" cy="342347"/>
          </a:xfrm>
          <a:prstGeom prst="rightArrow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8C319B7-9052-9C8F-2875-12BF791F84E9}"/>
              </a:ext>
            </a:extLst>
          </p:cNvPr>
          <p:cNvSpPr/>
          <p:nvPr/>
        </p:nvSpPr>
        <p:spPr>
          <a:xfrm>
            <a:off x="10119950" y="5086989"/>
            <a:ext cx="1131956" cy="64052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My</a:t>
            </a:r>
            <a:r>
              <a:rPr lang="ko-KR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 </a:t>
            </a:r>
            <a:r>
              <a:rPr lang="ko-KR" altLang="en-US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Interest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  <p:sp>
        <p:nvSpPr>
          <p:cNvPr id="10" name="슬라이드 번호 개체 틀 4">
            <a:extLst>
              <a:ext uri="{FF2B5EF4-FFF2-40B4-BE49-F238E27FC236}">
                <a16:creationId xmlns:a16="http://schemas.microsoft.com/office/drawing/2014/main" id="{9956ABAE-215F-075C-07B6-63CDD614A05E}"/>
              </a:ext>
            </a:extLst>
          </p:cNvPr>
          <p:cNvSpPr txBox="1">
            <a:spLocks/>
          </p:cNvSpPr>
          <p:nvPr/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490631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2C04D-0781-99D6-5BFC-579AAD900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10175690-918B-926B-76F2-BD3783565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0647861" cy="79234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200" dirty="0">
                <a:latin typeface="Univers Condensed"/>
                <a:ea typeface="Malgun Gothic"/>
              </a:rPr>
              <a:t>Motivation:</a:t>
            </a:r>
            <a:r>
              <a:rPr lang="ko-KR" sz="2200" dirty="0">
                <a:latin typeface="Univers Condensed"/>
                <a:ea typeface="Malgun Gothic"/>
              </a:rPr>
              <a:t> </a:t>
            </a:r>
            <a:r>
              <a:rPr lang="en-US" sz="2200" dirty="0">
                <a:latin typeface="Univers Condensed"/>
                <a:ea typeface="Malgun Gothic"/>
              </a:rPr>
              <a:t>Why</a:t>
            </a:r>
            <a:r>
              <a:rPr lang="ko-KR" sz="2200" dirty="0">
                <a:latin typeface="Univers Condensed"/>
                <a:ea typeface="Malgun Gothic"/>
              </a:rPr>
              <a:t> </a:t>
            </a:r>
            <a:r>
              <a:rPr lang="en-US" sz="2200" dirty="0">
                <a:latin typeface="Univers Condensed"/>
                <a:ea typeface="Malgun Gothic"/>
              </a:rPr>
              <a:t>Diffusion-based</a:t>
            </a:r>
            <a:r>
              <a:rPr lang="ko-KR" sz="2200" dirty="0">
                <a:latin typeface="Univers Condensed"/>
                <a:ea typeface="Malgun Gothic"/>
              </a:rPr>
              <a:t> </a:t>
            </a:r>
            <a:r>
              <a:rPr lang="en-US" sz="2200" dirty="0">
                <a:latin typeface="Univers Condensed"/>
                <a:ea typeface="Malgun Gothic"/>
              </a:rPr>
              <a:t>Planning?</a:t>
            </a:r>
            <a:endParaRPr lang="ko-KR" altLang="en-US" sz="2200" dirty="0">
              <a:latin typeface="Univers Condensed"/>
            </a:endParaRP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39985C36-8F25-8382-3CB9-D9D9619F9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862" y="1832003"/>
            <a:ext cx="10691265" cy="424671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ko-KR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Diffusion models have demonstrated outstanding performance in generating complex structured outputs, particularly in image generation tasks (e.g., Nano Banana, Sora, Stable Diffusion).</a:t>
            </a:r>
            <a:endParaRPr lang="ko-KR" sz="1800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Unlike conventional planning methods that rely on direct regression or candidate selection, diffusion-based planning</a:t>
            </a:r>
            <a:r>
              <a:rPr lang="en-US" altLang="ko-KR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enables multimodal trajectory generation and uncertainty modeling.</a:t>
            </a: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The denoising-based generation process makes diffusion models well-suited for producing structured trajectories and</a:t>
            </a:r>
            <a:r>
              <a:rPr lang="en-US" altLang="ko-KR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paths.</a:t>
            </a: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Furthermore, diffusion-based</a:t>
            </a:r>
            <a:r>
              <a:rPr lang="en-US" altLang="ko-KR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planners </a:t>
            </a:r>
            <a:r>
              <a:rPr lang="en-US" altLang="ko-KR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are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more amenable to reinforcement</a:t>
            </a:r>
            <a:r>
              <a:rPr lang="en-US" altLang="ko-KR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learning fine-tuning</a:t>
            </a:r>
            <a:r>
              <a:rPr lang="en-US" altLang="ko-KR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compared to</a:t>
            </a:r>
            <a:r>
              <a:rPr lang="en-US" altLang="ko-KR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existing planning approaches such as VAD and </a:t>
            </a: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UniAD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, allowing direct optimization of planning</a:t>
            </a:r>
            <a:r>
              <a:rPr lang="en-US" altLang="ko-KR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quality.</a:t>
            </a: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pPr marL="0" indent="0">
              <a:buNone/>
            </a:pPr>
            <a:endParaRPr lang="en-US" altLang="ko-KR" sz="1800" b="1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pPr marL="457200" lvl="1" indent="0">
              <a:buNone/>
            </a:pP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51494B8-DDC8-D593-8D7C-93B13808C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4CB2F27-664E-0A25-69B7-3B8599F95A4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ko-KR" altLang="en-US" dirty="0" err="1">
                <a:latin typeface="+mj-lt"/>
              </a:rPr>
              <a:t>Research</a:t>
            </a:r>
            <a:r>
              <a:rPr lang="ko-KR" altLang="en-US" dirty="0">
                <a:latin typeface="+mj-lt"/>
              </a:rPr>
              <a:t> </a:t>
            </a:r>
            <a:r>
              <a:rPr lang="ko-KR" altLang="en-US" dirty="0" err="1">
                <a:latin typeface="+mj-lt"/>
              </a:rPr>
              <a:t>Goal</a:t>
            </a:r>
            <a:r>
              <a:rPr lang="ko-KR" altLang="en-US" dirty="0">
                <a:latin typeface="+mj-lt"/>
              </a:rPr>
              <a:t> &amp; </a:t>
            </a:r>
            <a:r>
              <a:rPr lang="ko-KR" altLang="en-US" dirty="0" err="1">
                <a:latin typeface="+mj-lt"/>
              </a:rPr>
              <a:t>Workflow</a:t>
            </a:r>
          </a:p>
        </p:txBody>
      </p:sp>
      <p:sp>
        <p:nvSpPr>
          <p:cNvPr id="10" name="슬라이드 번호 개체 틀 4">
            <a:extLst>
              <a:ext uri="{FF2B5EF4-FFF2-40B4-BE49-F238E27FC236}">
                <a16:creationId xmlns:a16="http://schemas.microsoft.com/office/drawing/2014/main" id="{A6CB494B-A88A-4A72-E1F4-1CEA816420B0}"/>
              </a:ext>
            </a:extLst>
          </p:cNvPr>
          <p:cNvSpPr txBox="1">
            <a:spLocks/>
          </p:cNvSpPr>
          <p:nvPr/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14781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49883-09DE-B64F-C8E3-ECDE58A6D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0C405E9E-68BF-A7A1-0796-9AC36E099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0647861" cy="792346"/>
          </a:xfrm>
        </p:spPr>
        <p:txBody>
          <a:bodyPr>
            <a:normAutofit/>
          </a:bodyPr>
          <a:lstStyle/>
          <a:p>
            <a:r>
              <a:rPr lang="ko-KR" sz="2200" dirty="0">
                <a:ea typeface="+mj-lt"/>
                <a:cs typeface="+mj-lt"/>
              </a:rPr>
              <a:t>Auto</a:t>
            </a:r>
            <a:r>
              <a:rPr lang="en-US" altLang="ko-KR" sz="2200" dirty="0">
                <a:ea typeface="+mj-lt"/>
                <a:cs typeface="+mj-lt"/>
              </a:rPr>
              <a:t> </a:t>
            </a:r>
            <a:r>
              <a:rPr lang="ko-KR" sz="2200" dirty="0" err="1">
                <a:ea typeface="+mj-lt"/>
                <a:cs typeface="+mj-lt"/>
              </a:rPr>
              <a:t>regressive</a:t>
            </a:r>
            <a:r>
              <a:rPr lang="ko-KR" sz="2200" dirty="0">
                <a:ea typeface="+mj-lt"/>
                <a:cs typeface="+mj-lt"/>
              </a:rPr>
              <a:t> </a:t>
            </a:r>
            <a:r>
              <a:rPr lang="ko-KR" sz="2200" dirty="0" err="1">
                <a:ea typeface="+mj-lt"/>
                <a:cs typeface="+mj-lt"/>
              </a:rPr>
              <a:t>vs</a:t>
            </a:r>
            <a:r>
              <a:rPr lang="ko-KR" sz="2200" dirty="0">
                <a:ea typeface="+mj-lt"/>
                <a:cs typeface="+mj-lt"/>
              </a:rPr>
              <a:t> </a:t>
            </a:r>
            <a:r>
              <a:rPr lang="ko-KR" sz="2200" dirty="0" err="1">
                <a:ea typeface="+mj-lt"/>
                <a:cs typeface="+mj-lt"/>
              </a:rPr>
              <a:t>Diffusion-based</a:t>
            </a:r>
            <a:r>
              <a:rPr lang="ko-KR" sz="2200" dirty="0">
                <a:ea typeface="+mj-lt"/>
                <a:cs typeface="+mj-lt"/>
              </a:rPr>
              <a:t> </a:t>
            </a:r>
            <a:r>
              <a:rPr lang="ko-KR" sz="2200" dirty="0" err="1">
                <a:ea typeface="+mj-lt"/>
                <a:cs typeface="+mj-lt"/>
              </a:rPr>
              <a:t>Generation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16444698-B7B1-991C-2F5C-AC83ED9D22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862" y="1832003"/>
            <a:ext cx="10691265" cy="424671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</a:rPr>
              <a:t>Conventional Autoregressive (Regression-based</a:t>
            </a:r>
            <a:r>
              <a:rPr lang="ko-KR" b="1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</a:rPr>
              <a:t>)</a:t>
            </a:r>
            <a:endParaRPr lang="en-US" altLang="ko-KR" b="1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Predicts outputs sequentially (one step at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a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time)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Tends to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produce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mean predictions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under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multimodal distributions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Error accumulates over time</a:t>
            </a:r>
          </a:p>
          <a:p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Limited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ability to generate diverse trajectories</a:t>
            </a:r>
            <a:endParaRPr lang="ko-KR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pPr marL="457200" lvl="1" indent="0">
              <a:buNone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</a:rPr>
              <a:t>Diffusion-based Generation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Refines the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entire trajectory simultaneously through denoising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Generates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structured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trajectories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by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sampling from a distribution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Preserves global consistency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Enables multimodal and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robust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planning</a:t>
            </a:r>
          </a:p>
          <a:p>
            <a:endParaRPr lang="en-US" altLang="ko-KR" b="1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1B7790F-FAAF-663D-05A6-F7D43C3C7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6487285-F55D-9A90-84B5-7CECA0C202F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ko-KR" altLang="en-US" dirty="0" err="1">
                <a:latin typeface="+mj-lt"/>
              </a:rPr>
              <a:t>Research</a:t>
            </a:r>
            <a:r>
              <a:rPr lang="ko-KR" altLang="en-US" dirty="0">
                <a:latin typeface="+mj-lt"/>
              </a:rPr>
              <a:t> </a:t>
            </a:r>
            <a:r>
              <a:rPr lang="ko-KR" altLang="en-US" dirty="0" err="1">
                <a:latin typeface="+mj-lt"/>
              </a:rPr>
              <a:t>Goal</a:t>
            </a:r>
            <a:r>
              <a:rPr lang="ko-KR" altLang="en-US" dirty="0">
                <a:latin typeface="+mj-lt"/>
              </a:rPr>
              <a:t> &amp; </a:t>
            </a:r>
            <a:r>
              <a:rPr lang="ko-KR" altLang="en-US" dirty="0" err="1">
                <a:latin typeface="+mj-lt"/>
              </a:rPr>
              <a:t>Workflow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1F6F834-460C-9ABE-F9A4-DB3DD43AB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9208" y="2533738"/>
            <a:ext cx="1285875" cy="2667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79964F7-6ABB-7340-1AAE-E2D8374B95EE}"/>
              </a:ext>
            </a:extLst>
          </p:cNvPr>
          <p:cNvSpPr txBox="1"/>
          <p:nvPr/>
        </p:nvSpPr>
        <p:spPr>
          <a:xfrm>
            <a:off x="8733370" y="2868246"/>
            <a:ext cx="213768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200" dirty="0"/>
              <a:t>Auto </a:t>
            </a:r>
            <a:r>
              <a:rPr lang="ko-KR" altLang="en-US" sz="1200" err="1"/>
              <a:t>Regressive's</a:t>
            </a:r>
            <a:r>
              <a:rPr lang="ko-KR" altLang="en-US" sz="1200" dirty="0"/>
              <a:t> </a:t>
            </a:r>
            <a:r>
              <a:rPr lang="ko-KR" altLang="en-US" sz="1200" err="1"/>
              <a:t>Loss</a:t>
            </a:r>
            <a:r>
              <a:rPr lang="ko-KR" altLang="en-US" sz="1200" dirty="0"/>
              <a:t> </a:t>
            </a:r>
            <a:r>
              <a:rPr lang="ko-KR" altLang="en-US" sz="1200" err="1"/>
              <a:t>Rate</a:t>
            </a:r>
            <a:endParaRPr lang="ko-KR" altLang="en-US" sz="1200" dirty="0" err="1"/>
          </a:p>
        </p:txBody>
      </p:sp>
      <p:sp>
        <p:nvSpPr>
          <p:cNvPr id="10" name="슬라이드 번호 개체 틀 4">
            <a:extLst>
              <a:ext uri="{FF2B5EF4-FFF2-40B4-BE49-F238E27FC236}">
                <a16:creationId xmlns:a16="http://schemas.microsoft.com/office/drawing/2014/main" id="{5949EC92-0A34-C9D8-7842-7F2A6717050F}"/>
              </a:ext>
            </a:extLst>
          </p:cNvPr>
          <p:cNvSpPr txBox="1">
            <a:spLocks/>
          </p:cNvSpPr>
          <p:nvPr/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6243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F1611-54DE-C941-AB59-3636C245B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42521C5D-867E-FCF4-3045-FD731A741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0647861" cy="792346"/>
          </a:xfrm>
        </p:spPr>
        <p:txBody>
          <a:bodyPr>
            <a:normAutofit/>
          </a:bodyPr>
          <a:lstStyle/>
          <a:p>
            <a:r>
              <a:rPr lang="en-US" sz="2200" dirty="0">
                <a:ea typeface="+mj-lt"/>
                <a:cs typeface="+mj-lt"/>
              </a:rPr>
              <a:t>Two Axes of </a:t>
            </a:r>
            <a:r>
              <a:rPr lang="en-US" sz="2200" dirty="0" err="1">
                <a:ea typeface="+mj-lt"/>
                <a:cs typeface="+mj-lt"/>
              </a:rPr>
              <a:t>DiffusionDrive</a:t>
            </a:r>
            <a:r>
              <a:rPr lang="en-US" sz="2200" dirty="0">
                <a:ea typeface="+mj-lt"/>
                <a:cs typeface="+mj-lt"/>
              </a:rPr>
              <a:t>: U-Net and Transformer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19E6F42A-4AE2-0DB5-FE5F-4F1564C13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365" y="1513700"/>
            <a:ext cx="9688651" cy="4565021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>
              <a:buNone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</a:rPr>
              <a:t>Concept (Architecture &amp; Principle)</a:t>
            </a:r>
            <a:endParaRPr lang="ko-KR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pPr>
              <a:buFont typeface="Arial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U-Net is a CNN-based encoder–decoder architecture with skip connections.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pPr>
              <a:buFont typeface="Arial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It performs denoising on spatial representations by learning both global and local features through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downsampling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and </a:t>
            </a: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upsampling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.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pPr>
              <a:buFont typeface="Arial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Planning is formulated as a spatial reconstruction (denoising) problem.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pPr>
              <a:buNone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</a:rPr>
              <a:t>Input / Output Representation</a:t>
            </a:r>
          </a:p>
          <a:p>
            <a:pPr>
              <a:buFont typeface="Arial"/>
              <a:buChar char="•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Input: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BEV map (2D grid) with noisy anchor paths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pPr>
              <a:buFont typeface="Arial"/>
              <a:buChar char="•"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Output: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 Refined collision-free path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pPr indent="0"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Noise → Clean Path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pPr>
              <a:buNone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</a:rPr>
              <a:t>Learning Strategy (Anchor-based Refinement)</a:t>
            </a:r>
          </a:p>
          <a:p>
            <a:pPr>
              <a:buFont typeface="Arial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Instead of generating paths from scratch, U-Net refines predefined anchor trajectories through iterative denoising.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pPr>
              <a:buFont typeface="Arial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Anchors provide spatial references, enabling stable and efficient path generation.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pPr>
              <a:buNone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</a:rPr>
              <a:t>Advantages</a:t>
            </a:r>
          </a:p>
          <a:p>
            <a:pPr>
              <a:buFont typeface="Arial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Requires relatively less training data compared to transformer-based models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pPr>
              <a:buFont typeface="Arial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Efficient inference due to CNN-based computation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pPr>
              <a:buFont typeface="Arial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Well-suited for spatial path generation in BEV space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pPr>
              <a:buFont typeface="Arial"/>
              <a:buChar char="•"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Univers Condensed"/>
                <a:ea typeface="+mn-lt"/>
                <a:cs typeface="+mn-lt"/>
              </a:rPr>
              <a:t>Enables fast and stable local path planning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  <a:p>
            <a:pPr marL="0" indent="0">
              <a:buNone/>
            </a:pPr>
            <a:endParaRPr lang="en-US" altLang="ko-KR" b="1" dirty="0">
              <a:solidFill>
                <a:schemeClr val="tx1">
                  <a:lumMod val="85000"/>
                  <a:lumOff val="15000"/>
                </a:schemeClr>
              </a:solidFill>
              <a:latin typeface="Univers Condensed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D021EF-950A-FA09-252F-2163A664E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A4D4F84-4E67-332B-EAF5-C8C1D7351B2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ko-KR" altLang="en-US" dirty="0" err="1">
                <a:latin typeface="+mj-lt"/>
              </a:rPr>
              <a:t>Research</a:t>
            </a:r>
            <a:r>
              <a:rPr lang="ko-KR" altLang="en-US" dirty="0">
                <a:latin typeface="+mj-lt"/>
              </a:rPr>
              <a:t> </a:t>
            </a:r>
            <a:r>
              <a:rPr lang="ko-KR" altLang="en-US" dirty="0" err="1">
                <a:latin typeface="+mj-lt"/>
              </a:rPr>
              <a:t>Goal</a:t>
            </a:r>
            <a:r>
              <a:rPr lang="ko-KR" altLang="en-US" dirty="0">
                <a:latin typeface="+mj-lt"/>
              </a:rPr>
              <a:t> &amp; </a:t>
            </a:r>
            <a:r>
              <a:rPr lang="ko-KR" altLang="en-US" dirty="0" err="1">
                <a:latin typeface="+mj-lt"/>
              </a:rPr>
              <a:t>Workflow</a:t>
            </a:r>
          </a:p>
        </p:txBody>
      </p:sp>
      <p:pic>
        <p:nvPicPr>
          <p:cNvPr id="2" name="그림 1" descr="텍스트, 도표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54D8FA-56AB-1399-05E3-5BD735B69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9150" y="3062844"/>
            <a:ext cx="3894756" cy="2472387"/>
          </a:xfrm>
          <a:prstGeom prst="rect">
            <a:avLst/>
          </a:prstGeom>
        </p:spPr>
      </p:pic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4D9F1635-F8BA-4576-12D1-2ED7D4174037}"/>
              </a:ext>
            </a:extLst>
          </p:cNvPr>
          <p:cNvSpPr txBox="1">
            <a:spLocks/>
          </p:cNvSpPr>
          <p:nvPr/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606034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32E48-3253-8E29-C4FB-FE7AE41CA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1C017592-170C-2002-072E-2DD363375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0647861" cy="792346"/>
          </a:xfrm>
        </p:spPr>
        <p:txBody>
          <a:bodyPr>
            <a:normAutofit/>
          </a:bodyPr>
          <a:lstStyle/>
          <a:p>
            <a:r>
              <a:rPr lang="en-US" sz="2200" dirty="0">
                <a:ea typeface="+mj-lt"/>
                <a:cs typeface="+mj-lt"/>
              </a:rPr>
              <a:t>Two Axes of </a:t>
            </a:r>
            <a:r>
              <a:rPr lang="en-US" sz="2200" dirty="0" err="1">
                <a:ea typeface="+mj-lt"/>
                <a:cs typeface="+mj-lt"/>
              </a:rPr>
              <a:t>DiffusionDrive</a:t>
            </a:r>
            <a:r>
              <a:rPr lang="en-US" sz="2200" dirty="0">
                <a:ea typeface="+mj-lt"/>
                <a:cs typeface="+mj-lt"/>
              </a:rPr>
              <a:t>: U-Net and Transformer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3292B03F-C465-6EF6-04CA-8A9F7594A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365" y="1513700"/>
            <a:ext cx="9688651" cy="456502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r>
              <a:rPr lang="en-US" sz="950" b="1" dirty="0">
                <a:solidFill>
                  <a:schemeClr val="tx1">
                    <a:lumMod val="95000"/>
                    <a:lumOff val="5000"/>
                  </a:schemeClr>
                </a:solidFill>
                <a:latin typeface="Univers Condensed"/>
              </a:rPr>
              <a:t>Concept (Definition)</a:t>
            </a:r>
            <a:endParaRPr lang="ko-KR" sz="950" b="1" dirty="0">
              <a:solidFill>
                <a:schemeClr val="tx1">
                  <a:lumMod val="95000"/>
                  <a:lumOff val="5000"/>
                </a:schemeClr>
              </a:solidFill>
              <a:latin typeface="Univers Condensed"/>
            </a:endParaRPr>
          </a:p>
          <a:p>
            <a:pPr>
              <a:buFont typeface="Arial"/>
              <a:buChar char="•"/>
            </a:pP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Univers Condensed"/>
                <a:ea typeface="+mn-lt"/>
                <a:cs typeface="+mn-lt"/>
              </a:rPr>
              <a:t>Transformer is the core deep learning architecture underlying large language models (LLMs).</a:t>
            </a:r>
            <a:endParaRPr lang="en-US" sz="950" dirty="0">
              <a:solidFill>
                <a:schemeClr val="tx1">
                  <a:lumMod val="95000"/>
                  <a:lumOff val="5000"/>
                </a:schemeClr>
              </a:solidFill>
              <a:latin typeface="Univers Condensed"/>
            </a:endParaRPr>
          </a:p>
          <a:p>
            <a:pPr>
              <a:buFont typeface="Arial"/>
              <a:buChar char="•"/>
            </a:pP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Univers Condensed"/>
                <a:ea typeface="+mn-lt"/>
                <a:cs typeface="+mn-lt"/>
              </a:rPr>
              <a:t>It represents inputs as tokens and models their relationships using attention mechanisms.</a:t>
            </a:r>
            <a:endParaRPr lang="en-US" sz="950" dirty="0">
              <a:solidFill>
                <a:schemeClr val="tx1">
                  <a:lumMod val="95000"/>
                  <a:lumOff val="5000"/>
                </a:schemeClr>
              </a:solidFill>
              <a:latin typeface="Univers Condensed"/>
            </a:endParaRPr>
          </a:p>
          <a:p>
            <a:pPr>
              <a:buNone/>
            </a:pPr>
            <a:r>
              <a:rPr lang="en-US" sz="950" b="1" dirty="0">
                <a:solidFill>
                  <a:schemeClr val="tx1">
                    <a:lumMod val="95000"/>
                    <a:lumOff val="5000"/>
                  </a:schemeClr>
                </a:solidFill>
                <a:latin typeface="Univers Condensed"/>
              </a:rPr>
              <a:t>Architecture &amp; Principle</a:t>
            </a:r>
          </a:p>
          <a:p>
            <a:pPr>
              <a:buFont typeface="Arial"/>
              <a:buChar char="•"/>
            </a:pP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Univers Condensed"/>
                <a:ea typeface="+mn-lt"/>
                <a:cs typeface="+mn-lt"/>
              </a:rPr>
              <a:t>Uses </a:t>
            </a:r>
            <a:r>
              <a:rPr lang="en-US" sz="950" b="1" dirty="0">
                <a:solidFill>
                  <a:schemeClr val="tx1">
                    <a:lumMod val="95000"/>
                    <a:lumOff val="5000"/>
                  </a:schemeClr>
                </a:solidFill>
                <a:latin typeface="Univers Condensed"/>
                <a:ea typeface="+mn-lt"/>
                <a:cs typeface="+mn-lt"/>
              </a:rPr>
              <a:t>self-attention</a:t>
            </a: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Univers Condensed"/>
                <a:ea typeface="+mn-lt"/>
                <a:cs typeface="+mn-lt"/>
              </a:rPr>
              <a:t> to model relationships among trajectory tokens</a:t>
            </a:r>
            <a:endParaRPr lang="en-US" sz="950" dirty="0">
              <a:solidFill>
                <a:schemeClr val="tx1">
                  <a:lumMod val="95000"/>
                  <a:lumOff val="5000"/>
                </a:schemeClr>
              </a:solidFill>
              <a:latin typeface="Univers Condensed"/>
            </a:endParaRPr>
          </a:p>
          <a:p>
            <a:pPr>
              <a:buFont typeface="Arial"/>
              <a:buChar char="•"/>
            </a:pP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Univers Condensed"/>
                <a:ea typeface="+mn-lt"/>
                <a:cs typeface="+mn-lt"/>
              </a:rPr>
              <a:t>Uses </a:t>
            </a:r>
            <a:r>
              <a:rPr lang="en-US" sz="950" b="1" dirty="0">
                <a:solidFill>
                  <a:schemeClr val="tx1">
                    <a:lumMod val="95000"/>
                    <a:lumOff val="5000"/>
                  </a:schemeClr>
                </a:solidFill>
                <a:latin typeface="Univers Condensed"/>
                <a:ea typeface="+mn-lt"/>
                <a:cs typeface="+mn-lt"/>
              </a:rPr>
              <a:t>cross-attention</a:t>
            </a: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Univers Condensed"/>
                <a:ea typeface="+mn-lt"/>
                <a:cs typeface="+mn-lt"/>
              </a:rPr>
              <a:t> to incorporate contextual information</a:t>
            </a:r>
            <a:endParaRPr lang="en-US" sz="950" dirty="0">
              <a:solidFill>
                <a:schemeClr val="tx1">
                  <a:lumMod val="95000"/>
                  <a:lumOff val="5000"/>
                </a:schemeClr>
              </a:solidFill>
              <a:latin typeface="Univers Condensed"/>
            </a:endParaRPr>
          </a:p>
          <a:p>
            <a:pPr>
              <a:buFont typeface="Arial"/>
              <a:buChar char="•"/>
            </a:pP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Univers Condensed"/>
                <a:ea typeface="+mn-lt"/>
                <a:cs typeface="+mn-lt"/>
              </a:rPr>
              <a:t>Enables joint reasoning over multiple inputs without spatial constraints</a:t>
            </a:r>
            <a:endParaRPr lang="en-US" sz="950" dirty="0">
              <a:solidFill>
                <a:schemeClr val="tx1">
                  <a:lumMod val="95000"/>
                  <a:lumOff val="5000"/>
                </a:schemeClr>
              </a:solidFill>
              <a:latin typeface="Univers Condensed"/>
            </a:endParaRPr>
          </a:p>
          <a:p>
            <a:pPr>
              <a:buNone/>
            </a:pPr>
            <a:r>
              <a:rPr lang="en-US" sz="950" b="1" dirty="0">
                <a:solidFill>
                  <a:schemeClr val="tx1">
                    <a:lumMod val="95000"/>
                    <a:lumOff val="5000"/>
                  </a:schemeClr>
                </a:solidFill>
                <a:latin typeface="Univers Condensed"/>
              </a:rPr>
              <a:t>Advantages for Autonomous Driving</a:t>
            </a:r>
          </a:p>
          <a:p>
            <a:pPr>
              <a:buFont typeface="Arial"/>
              <a:buChar char="•"/>
            </a:pP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Univers Condensed"/>
                <a:ea typeface="+mn-lt"/>
                <a:cs typeface="+mn-lt"/>
              </a:rPr>
              <a:t>Can jointly consider:</a:t>
            </a:r>
            <a:endParaRPr lang="en-US" sz="950" dirty="0">
              <a:solidFill>
                <a:schemeClr val="tx1">
                  <a:lumMod val="95000"/>
                  <a:lumOff val="5000"/>
                </a:schemeClr>
              </a:solidFill>
              <a:latin typeface="Univers Condensed"/>
            </a:endParaRPr>
          </a:p>
          <a:p>
            <a:pPr marL="971550" lvl="1" indent="-285750">
              <a:buFont typeface="Arial"/>
              <a:buChar char="•"/>
            </a:pP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Univers Condensed"/>
                <a:ea typeface="+mn-lt"/>
                <a:cs typeface="+mn-lt"/>
              </a:rPr>
              <a:t>spatiotemporal information</a:t>
            </a:r>
            <a:endParaRPr lang="en-US" sz="950" dirty="0">
              <a:solidFill>
                <a:schemeClr val="tx1">
                  <a:lumMod val="95000"/>
                  <a:lumOff val="5000"/>
                </a:schemeClr>
              </a:solidFill>
              <a:latin typeface="Univers Condensed"/>
            </a:endParaRPr>
          </a:p>
          <a:p>
            <a:pPr marL="971550" lvl="1" indent="-285750">
              <a:buFont typeface="Arial"/>
              <a:buChar char="•"/>
            </a:pP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Univers Condensed"/>
                <a:ea typeface="+mn-lt"/>
                <a:cs typeface="+mn-lt"/>
              </a:rPr>
              <a:t>vehicle states</a:t>
            </a:r>
            <a:endParaRPr lang="en-US" sz="950" dirty="0">
              <a:solidFill>
                <a:schemeClr val="tx1">
                  <a:lumMod val="95000"/>
                  <a:lumOff val="5000"/>
                </a:schemeClr>
              </a:solidFill>
              <a:latin typeface="Univers Condensed"/>
            </a:endParaRPr>
          </a:p>
          <a:p>
            <a:pPr marL="971550" lvl="1" indent="-285750">
              <a:buFont typeface="Arial"/>
              <a:buChar char="•"/>
            </a:pP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Univers Condensed"/>
                <a:ea typeface="+mn-lt"/>
                <a:cs typeface="+mn-lt"/>
              </a:rPr>
              <a:t>perception features</a:t>
            </a:r>
            <a:endParaRPr lang="en-US" sz="950" dirty="0">
              <a:solidFill>
                <a:schemeClr val="tx1">
                  <a:lumMod val="95000"/>
                  <a:lumOff val="5000"/>
                </a:schemeClr>
              </a:solidFill>
              <a:latin typeface="Univers Condensed"/>
            </a:endParaRPr>
          </a:p>
          <a:p>
            <a:pPr marL="971550" lvl="1" indent="-285750">
              <a:buFont typeface="Arial"/>
              <a:buChar char="•"/>
            </a:pP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Univers Condensed"/>
                <a:ea typeface="+mn-lt"/>
                <a:cs typeface="+mn-lt"/>
              </a:rPr>
              <a:t>high-level commands</a:t>
            </a:r>
            <a:endParaRPr lang="en-US" sz="950" dirty="0">
              <a:solidFill>
                <a:schemeClr val="tx1">
                  <a:lumMod val="95000"/>
                  <a:lumOff val="5000"/>
                </a:schemeClr>
              </a:solidFill>
              <a:latin typeface="Univers Condensed"/>
            </a:endParaRPr>
          </a:p>
          <a:p>
            <a:pPr>
              <a:buFont typeface="Arial"/>
              <a:buChar char="•"/>
            </a:pP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Univers Condensed"/>
                <a:ea typeface="+mn-lt"/>
                <a:cs typeface="+mn-lt"/>
              </a:rPr>
              <a:t>Enables more accurate and consistent trajectory generation</a:t>
            </a:r>
            <a:endParaRPr lang="en-US" sz="950" dirty="0">
              <a:solidFill>
                <a:schemeClr val="tx1">
                  <a:lumMod val="95000"/>
                  <a:lumOff val="5000"/>
                </a:schemeClr>
              </a:solidFill>
              <a:latin typeface="Univers Condensed"/>
            </a:endParaRPr>
          </a:p>
          <a:p>
            <a:pPr>
              <a:buNone/>
            </a:pPr>
            <a:r>
              <a:rPr lang="en-US" sz="950" b="1" dirty="0">
                <a:solidFill>
                  <a:schemeClr val="tx1">
                    <a:lumMod val="95000"/>
                    <a:lumOff val="5000"/>
                  </a:schemeClr>
                </a:solidFill>
                <a:latin typeface="Univers Condensed"/>
              </a:rPr>
              <a:t>Limitation</a:t>
            </a:r>
          </a:p>
          <a:p>
            <a:pPr>
              <a:buFont typeface="Arial"/>
              <a:buChar char="•"/>
            </a:pP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Univers Condensed"/>
                <a:ea typeface="+mn-lt"/>
                <a:cs typeface="+mn-lt"/>
              </a:rPr>
              <a:t>Computationally expensive due to attention operations</a:t>
            </a:r>
            <a:endParaRPr lang="en-US" sz="950" dirty="0">
              <a:solidFill>
                <a:schemeClr val="tx1">
                  <a:lumMod val="95000"/>
                  <a:lumOff val="5000"/>
                </a:schemeClr>
              </a:solidFill>
              <a:latin typeface="Univers Condensed"/>
            </a:endParaRPr>
          </a:p>
          <a:p>
            <a:pPr>
              <a:buFont typeface="Arial"/>
              <a:buChar char="•"/>
            </a:pPr>
            <a:r>
              <a:rPr lang="en-US" sz="950" dirty="0">
                <a:solidFill>
                  <a:schemeClr val="tx1">
                    <a:lumMod val="95000"/>
                    <a:lumOff val="5000"/>
                  </a:schemeClr>
                </a:solidFill>
                <a:latin typeface="Univers Condensed"/>
                <a:ea typeface="+mn-lt"/>
                <a:cs typeface="+mn-lt"/>
              </a:rPr>
              <a:t>Unlike U-Net, there is no established anchor-based mechanism for reducing search space in autonomous driving planning</a:t>
            </a:r>
            <a:endParaRPr lang="en-US" sz="950" dirty="0">
              <a:solidFill>
                <a:schemeClr val="tx1">
                  <a:lumMod val="95000"/>
                  <a:lumOff val="5000"/>
                </a:schemeClr>
              </a:solidFill>
              <a:latin typeface="Univers Condensed"/>
            </a:endParaRPr>
          </a:p>
          <a:p>
            <a:pPr>
              <a:buNone/>
            </a:pPr>
            <a:endParaRPr lang="en-US" sz="950" b="1" dirty="0">
              <a:solidFill>
                <a:schemeClr val="tx1">
                  <a:lumMod val="95000"/>
                  <a:lumOff val="5000"/>
                </a:schemeClr>
              </a:solidFill>
              <a:latin typeface="Univers Condensed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CB442B9-7A7A-314B-504F-A2E33477B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6947B5E-750F-2843-FC32-0062FD5883A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ko-KR" altLang="en-US" err="1">
                <a:latin typeface="Univers Condensed"/>
              </a:rPr>
              <a:t>Research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err="1">
                <a:latin typeface="Univers Condensed"/>
              </a:rPr>
              <a:t>Goal</a:t>
            </a:r>
            <a:r>
              <a:rPr lang="ko-KR" altLang="en-US" dirty="0">
                <a:latin typeface="Univers Condensed"/>
              </a:rPr>
              <a:t> &amp; </a:t>
            </a:r>
            <a:r>
              <a:rPr lang="ko-KR" altLang="en-US" err="1">
                <a:latin typeface="Univers Condensed"/>
              </a:rPr>
              <a:t>Workflow</a:t>
            </a:r>
            <a:endParaRPr lang="ko-KR" altLang="en-US">
              <a:latin typeface="Univers Condensed"/>
            </a:endParaRPr>
          </a:p>
        </p:txBody>
      </p:sp>
      <p:pic>
        <p:nvPicPr>
          <p:cNvPr id="9" name="그림 8" descr="Self-attention vs Cross-attention One of the major strengths of LLM's is  commonly agreed upon as the transformer architecture which works upon the  idea of self-attention. Meaning when we put a… | Tanner">
            <a:extLst>
              <a:ext uri="{FF2B5EF4-FFF2-40B4-BE49-F238E27FC236}">
                <a16:creationId xmlns:a16="http://schemas.microsoft.com/office/drawing/2014/main" id="{C3492666-3CBB-F42F-50F2-74FFCE87E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469" y="2129342"/>
            <a:ext cx="4451431" cy="2940333"/>
          </a:xfrm>
          <a:prstGeom prst="rect">
            <a:avLst/>
          </a:prstGeom>
        </p:spPr>
      </p:pic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1C934DC3-7A3F-9A19-9019-24CC80AC98B5}"/>
              </a:ext>
            </a:extLst>
          </p:cNvPr>
          <p:cNvSpPr txBox="1">
            <a:spLocks/>
          </p:cNvSpPr>
          <p:nvPr/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b="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35397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27DFF-C592-1498-2964-FDC85781A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3E45D8DA-B9EE-D706-035C-7EEEA3FC1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0647861" cy="792346"/>
          </a:xfrm>
        </p:spPr>
        <p:txBody>
          <a:bodyPr>
            <a:normAutofit/>
          </a:bodyPr>
          <a:lstStyle/>
          <a:p>
            <a:r>
              <a:rPr lang="en-US" sz="2200" dirty="0">
                <a:ea typeface="+mj-lt"/>
                <a:cs typeface="+mj-lt"/>
              </a:rPr>
              <a:t>Comparison of Diffusion Models Based on U-Net and Transformer</a:t>
            </a:r>
            <a:endParaRPr lang="ko-KR" dirty="0">
              <a:ea typeface="+mj-lt"/>
              <a:cs typeface="+mj-lt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2EE225C-6D06-10B5-D029-6D16BCA1B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C9DFC7E-E992-13A8-5679-6E0774B48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/>
          <a:lstStyle/>
          <a:p>
            <a:r>
              <a:rPr lang="en-US" dirty="0"/>
              <a:t>6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E470591-F9D5-39FE-B023-F5F8AF61E00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ko-KR" altLang="en-US" dirty="0" err="1">
                <a:latin typeface="Univers Condensed"/>
              </a:rPr>
              <a:t>Research</a:t>
            </a:r>
            <a:r>
              <a:rPr lang="ko-KR" altLang="en-US" dirty="0">
                <a:latin typeface="Univers Condensed"/>
              </a:rPr>
              <a:t> </a:t>
            </a:r>
            <a:r>
              <a:rPr lang="ko-KR" altLang="en-US" dirty="0" err="1">
                <a:latin typeface="Univers Condensed"/>
              </a:rPr>
              <a:t>Goal</a:t>
            </a:r>
            <a:r>
              <a:rPr lang="ko-KR" altLang="en-US" dirty="0">
                <a:latin typeface="Univers Condensed"/>
              </a:rPr>
              <a:t> &amp; </a:t>
            </a:r>
            <a:r>
              <a:rPr lang="ko-KR" altLang="en-US" dirty="0" err="1">
                <a:latin typeface="Univers Condensed"/>
              </a:rPr>
              <a:t>Workflow</a:t>
            </a:r>
            <a:endParaRPr lang="ko-KR" altLang="en-US" dirty="0">
              <a:latin typeface="Univers Condensed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58427CDF-DD4C-570B-1015-CEDC172DF3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877468"/>
              </p:ext>
            </p:extLst>
          </p:nvPr>
        </p:nvGraphicFramePr>
        <p:xfrm>
          <a:off x="853632" y="1712088"/>
          <a:ext cx="10425027" cy="393683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85391">
                  <a:extLst>
                    <a:ext uri="{9D8B030D-6E8A-4147-A177-3AD203B41FA5}">
                      <a16:colId xmlns:a16="http://schemas.microsoft.com/office/drawing/2014/main" val="1869111698"/>
                    </a:ext>
                  </a:extLst>
                </a:gridCol>
                <a:gridCol w="4275711">
                  <a:extLst>
                    <a:ext uri="{9D8B030D-6E8A-4147-A177-3AD203B41FA5}">
                      <a16:colId xmlns:a16="http://schemas.microsoft.com/office/drawing/2014/main" val="2754182965"/>
                    </a:ext>
                  </a:extLst>
                </a:gridCol>
                <a:gridCol w="3763925">
                  <a:extLst>
                    <a:ext uri="{9D8B030D-6E8A-4147-A177-3AD203B41FA5}">
                      <a16:colId xmlns:a16="http://schemas.microsoft.com/office/drawing/2014/main" val="1488601459"/>
                    </a:ext>
                  </a:extLst>
                </a:gridCol>
              </a:tblGrid>
              <a:tr h="366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dirty="0" err="1">
                          <a:solidFill>
                            <a:schemeClr val="bg1"/>
                          </a:solidFill>
                          <a:latin typeface="Univers Condensed"/>
                        </a:rPr>
                        <a:t>Aspect</a:t>
                      </a:r>
                      <a:endParaRPr lang="af-ZA">
                        <a:solidFill>
                          <a:schemeClr val="bg1"/>
                        </a:solidFill>
                        <a:latin typeface="Univers Condensed"/>
                      </a:endParaRPr>
                    </a:p>
                  </a:txBody>
                  <a:tcPr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600" dirty="0">
                          <a:solidFill>
                            <a:schemeClr val="bg1"/>
                          </a:solidFill>
                          <a:latin typeface="Univers Condensed"/>
                        </a:rPr>
                        <a:t>U-Net-</a:t>
                      </a:r>
                      <a:r>
                        <a:rPr lang="af-ZA" sz="1600" dirty="0" err="1">
                          <a:solidFill>
                            <a:schemeClr val="bg1"/>
                          </a:solidFill>
                          <a:latin typeface="Univers Condensed"/>
                        </a:rPr>
                        <a:t>based</a:t>
                      </a:r>
                      <a:r>
                        <a:rPr lang="af-ZA" sz="1600" dirty="0">
                          <a:solidFill>
                            <a:schemeClr val="bg1"/>
                          </a:solidFill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solidFill>
                            <a:schemeClr val="bg1"/>
                          </a:solidFill>
                          <a:latin typeface="Univers Condensed"/>
                        </a:rPr>
                        <a:t>Diffusion</a:t>
                      </a:r>
                      <a:endParaRPr lang="af-ZA" sz="1600" dirty="0">
                        <a:solidFill>
                          <a:schemeClr val="bg1"/>
                        </a:solidFill>
                        <a:latin typeface="Univers Condensed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600" dirty="0" err="1">
                          <a:solidFill>
                            <a:schemeClr val="bg1"/>
                          </a:solidFill>
                          <a:latin typeface="Univers Condensed"/>
                        </a:rPr>
                        <a:t>Transformer-based</a:t>
                      </a:r>
                      <a:r>
                        <a:rPr lang="af-ZA" sz="1600" dirty="0">
                          <a:solidFill>
                            <a:schemeClr val="bg1"/>
                          </a:solidFill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solidFill>
                            <a:schemeClr val="bg1"/>
                          </a:solidFill>
                          <a:latin typeface="Univers Condensed"/>
                        </a:rPr>
                        <a:t>Diffusion</a:t>
                      </a:r>
                      <a:endParaRPr lang="af-ZA" sz="1600">
                        <a:solidFill>
                          <a:schemeClr val="bg1"/>
                        </a:solidFill>
                        <a:latin typeface="Univers Condensed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4951392"/>
                  </a:ext>
                </a:extLst>
              </a:tr>
              <a:tr h="6406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b="1" dirty="0">
                          <a:latin typeface="Univers Condensed"/>
                        </a:rPr>
                        <a:t>Computation Cost</a:t>
                      </a:r>
                      <a:endParaRPr lang="af-ZA" dirty="0">
                        <a:latin typeface="Univers Condensed"/>
                      </a:endParaRPr>
                    </a:p>
                  </a:txBody>
                  <a:tcPr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600" dirty="0" err="1">
                          <a:latin typeface="Univers Condensed"/>
                        </a:rPr>
                        <a:t>Fast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inference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with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anchor-based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refinement</a:t>
                      </a:r>
                      <a:endParaRPr lang="af-ZA" sz="1600" dirty="0">
                        <a:latin typeface="Univers Condensed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600" dirty="0" err="1">
                          <a:latin typeface="Univers Condensed"/>
                        </a:rPr>
                        <a:t>Relatively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high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computational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cost</a:t>
                      </a:r>
                      <a:endParaRPr lang="af-ZA" sz="1600" dirty="0">
                        <a:latin typeface="Univers Condensed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0774904"/>
                  </a:ext>
                </a:extLst>
              </a:tr>
              <a:tr h="6406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b="1" dirty="0">
                          <a:latin typeface="Univers Condensed"/>
                        </a:rPr>
                        <a:t>Customization</a:t>
                      </a:r>
                      <a:endParaRPr lang="af-ZA" dirty="0">
                        <a:latin typeface="Univers Condensed"/>
                      </a:endParaRPr>
                    </a:p>
                  </a:txBody>
                  <a:tcPr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600" dirty="0" err="1">
                          <a:latin typeface="Univers Condensed"/>
                        </a:rPr>
                        <a:t>Limited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flexibility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for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architectural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modification</a:t>
                      </a:r>
                      <a:endParaRPr lang="af-ZA" sz="1600" dirty="0">
                        <a:latin typeface="Univers Condensed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600" dirty="0" err="1">
                          <a:latin typeface="Univers Condensed"/>
                        </a:rPr>
                        <a:t>Highly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flexible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and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extensible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architecture</a:t>
                      </a:r>
                      <a:endParaRPr lang="af-ZA" sz="1600" dirty="0">
                        <a:latin typeface="Univers Condensed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7425603"/>
                  </a:ext>
                </a:extLst>
              </a:tr>
              <a:tr h="6406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b="1" dirty="0" err="1">
                          <a:latin typeface="Univers Condensed"/>
                        </a:rPr>
                        <a:t>Path</a:t>
                      </a:r>
                      <a:r>
                        <a:rPr lang="af-ZA" b="1" dirty="0">
                          <a:latin typeface="Univers Condensed"/>
                        </a:rPr>
                        <a:t> / </a:t>
                      </a:r>
                      <a:r>
                        <a:rPr lang="af-ZA" b="1" dirty="0" err="1">
                          <a:latin typeface="Univers Condensed"/>
                        </a:rPr>
                        <a:t>Trajectory</a:t>
                      </a:r>
                      <a:r>
                        <a:rPr lang="af-ZA" b="1" dirty="0">
                          <a:latin typeface="Univers Condensed"/>
                        </a:rPr>
                        <a:t> </a:t>
                      </a:r>
                      <a:r>
                        <a:rPr lang="af-ZA" b="1" dirty="0" err="1">
                          <a:latin typeface="Univers Condensed"/>
                        </a:rPr>
                        <a:t>Quality</a:t>
                      </a:r>
                      <a:endParaRPr lang="af-ZA" dirty="0">
                        <a:latin typeface="Univers Condensed"/>
                      </a:endParaRPr>
                    </a:p>
                  </a:txBody>
                  <a:tcPr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600" dirty="0" err="1">
                          <a:latin typeface="Univers Condensed"/>
                        </a:rPr>
                        <a:t>Spatially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valid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local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paths</a:t>
                      </a:r>
                      <a:endParaRPr lang="af-ZA" sz="1600" dirty="0">
                        <a:latin typeface="Univers Condensed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600" dirty="0" err="1">
                          <a:latin typeface="Univers Condensed"/>
                        </a:rPr>
                        <a:t>Temporally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consistent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and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context-aware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trajectories</a:t>
                      </a:r>
                      <a:endParaRPr lang="af-ZA" sz="1600" dirty="0">
                        <a:latin typeface="Univers Condensed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6065895"/>
                  </a:ext>
                </a:extLst>
              </a:tr>
              <a:tr h="366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b="1" dirty="0" err="1">
                          <a:latin typeface="Univers Condensed"/>
                        </a:rPr>
                        <a:t>Representation</a:t>
                      </a:r>
                      <a:endParaRPr lang="af-ZA">
                        <a:latin typeface="Univers Condensed"/>
                      </a:endParaRPr>
                    </a:p>
                  </a:txBody>
                  <a:tcPr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600" dirty="0" err="1">
                          <a:latin typeface="Univers Condensed"/>
                        </a:rPr>
                        <a:t>Spatial</a:t>
                      </a:r>
                      <a:r>
                        <a:rPr lang="af-ZA" sz="1600" dirty="0">
                          <a:latin typeface="Univers Condensed"/>
                        </a:rPr>
                        <a:t> map (BEV, </a:t>
                      </a:r>
                      <a:r>
                        <a:rPr lang="af-ZA" sz="1600" dirty="0" err="1">
                          <a:latin typeface="Univers Condensed"/>
                        </a:rPr>
                        <a:t>grid-based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path</a:t>
                      </a:r>
                      <a:r>
                        <a:rPr lang="af-ZA" sz="1600" dirty="0">
                          <a:latin typeface="Univers Condensed"/>
                        </a:rPr>
                        <a:t>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600" dirty="0" err="1">
                          <a:latin typeface="Univers Condensed"/>
                        </a:rPr>
                        <a:t>Sequence</a:t>
                      </a:r>
                      <a:r>
                        <a:rPr lang="af-ZA" sz="1600" dirty="0">
                          <a:latin typeface="Univers Condensed"/>
                        </a:rPr>
                        <a:t> of </a:t>
                      </a:r>
                      <a:r>
                        <a:rPr lang="af-ZA" sz="1600" dirty="0" err="1">
                          <a:latin typeface="Univers Condensed"/>
                        </a:rPr>
                        <a:t>trajectory</a:t>
                      </a:r>
                      <a:r>
                        <a:rPr lang="af-ZA" sz="1600" dirty="0">
                          <a:latin typeface="Univers Condensed"/>
                        </a:rPr>
                        <a:t> tokens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5312164"/>
                  </a:ext>
                </a:extLst>
              </a:tr>
              <a:tr h="6406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b="1" dirty="0" err="1">
                          <a:latin typeface="Univers Condensed"/>
                        </a:rPr>
                        <a:t>Reasoning</a:t>
                      </a:r>
                      <a:r>
                        <a:rPr lang="af-ZA" b="1" dirty="0">
                          <a:latin typeface="Univers Condensed"/>
                        </a:rPr>
                        <a:t> </a:t>
                      </a:r>
                      <a:r>
                        <a:rPr lang="af-ZA" b="1" dirty="0" err="1">
                          <a:latin typeface="Univers Condensed"/>
                        </a:rPr>
                        <a:t>Capability</a:t>
                      </a:r>
                      <a:endParaRPr lang="af-ZA">
                        <a:latin typeface="Univers Condensed"/>
                      </a:endParaRPr>
                    </a:p>
                  </a:txBody>
                  <a:tcPr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600" dirty="0" err="1">
                          <a:latin typeface="Univers Condensed"/>
                        </a:rPr>
                        <a:t>Focused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on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local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spatial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structure</a:t>
                      </a:r>
                      <a:endParaRPr lang="af-ZA" sz="1600" dirty="0">
                        <a:latin typeface="Univers Condensed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600" dirty="0" err="1">
                          <a:latin typeface="Univers Condensed"/>
                        </a:rPr>
                        <a:t>Capable</a:t>
                      </a:r>
                      <a:r>
                        <a:rPr lang="af-ZA" sz="1600" dirty="0">
                          <a:latin typeface="Univers Condensed"/>
                        </a:rPr>
                        <a:t> of </a:t>
                      </a:r>
                      <a:r>
                        <a:rPr lang="af-ZA" sz="1600" dirty="0" err="1">
                          <a:latin typeface="Univers Condensed"/>
                        </a:rPr>
                        <a:t>temporal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and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causal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reasoning</a:t>
                      </a:r>
                      <a:endParaRPr lang="af-ZA" sz="1600" dirty="0">
                        <a:latin typeface="Univers Condensed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5184897"/>
                  </a:ext>
                </a:extLst>
              </a:tr>
              <a:tr h="6406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b="1" dirty="0" err="1">
                          <a:latin typeface="Univers Condensed"/>
                        </a:rPr>
                        <a:t>Scalability</a:t>
                      </a:r>
                      <a:endParaRPr lang="af-ZA">
                        <a:latin typeface="Univers Condensed"/>
                      </a:endParaRPr>
                    </a:p>
                  </a:txBody>
                  <a:tcPr anchor="ctr">
                    <a:lnL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600" dirty="0" err="1">
                          <a:latin typeface="Univers Condensed"/>
                        </a:rPr>
                        <a:t>Efficient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for</a:t>
                      </a:r>
                      <a:r>
                        <a:rPr lang="af-ZA" sz="1600" dirty="0">
                          <a:latin typeface="Univers Condensed"/>
                        </a:rPr>
                        <a:t> real-</a:t>
                      </a:r>
                      <a:r>
                        <a:rPr lang="af-ZA" sz="1600" dirty="0" err="1">
                          <a:latin typeface="Univers Condensed"/>
                        </a:rPr>
                        <a:t>time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local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planning</a:t>
                      </a:r>
                      <a:endParaRPr lang="af-ZA" sz="1600" dirty="0">
                        <a:latin typeface="Univers Condensed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f-ZA" sz="1600" dirty="0" err="1">
                          <a:latin typeface="Univers Condensed"/>
                        </a:rPr>
                        <a:t>Suitable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for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complex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multimodal</a:t>
                      </a:r>
                      <a:r>
                        <a:rPr lang="af-ZA" sz="1600" dirty="0">
                          <a:latin typeface="Univers Condensed"/>
                        </a:rPr>
                        <a:t> </a:t>
                      </a:r>
                      <a:r>
                        <a:rPr lang="af-ZA" sz="1600" dirty="0" err="1">
                          <a:latin typeface="Univers Condensed"/>
                        </a:rPr>
                        <a:t>planning</a:t>
                      </a:r>
                      <a:endParaRPr lang="af-ZA" sz="1600" dirty="0">
                        <a:latin typeface="Univers Condensed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402427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3BEF081F-B087-1203-765E-F512E9F9C84C}"/>
              </a:ext>
            </a:extLst>
          </p:cNvPr>
          <p:cNvSpPr txBox="1"/>
          <p:nvPr/>
        </p:nvSpPr>
        <p:spPr>
          <a:xfrm>
            <a:off x="853912" y="5775529"/>
            <a:ext cx="917713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latin typeface="Univers Condensed"/>
                <a:ea typeface="+mn-lt"/>
                <a:cs typeface="+mn-lt"/>
              </a:rPr>
              <a:t>*</a:t>
            </a:r>
            <a:r>
              <a:rPr lang="ko-KR" sz="1400" dirty="0" err="1">
                <a:latin typeface="Univers Condensed"/>
                <a:ea typeface="+mn-lt"/>
                <a:cs typeface="+mn-lt"/>
              </a:rPr>
              <a:t>These</a:t>
            </a:r>
            <a:r>
              <a:rPr lang="ko-KR" sz="1400" dirty="0">
                <a:latin typeface="Univers Condensed"/>
                <a:ea typeface="+mn-lt"/>
                <a:cs typeface="+mn-lt"/>
              </a:rPr>
              <a:t> </a:t>
            </a:r>
            <a:r>
              <a:rPr lang="ko-KR" sz="1400" dirty="0" err="1">
                <a:latin typeface="Univers Condensed"/>
                <a:ea typeface="+mn-lt"/>
                <a:cs typeface="+mn-lt"/>
              </a:rPr>
              <a:t>two</a:t>
            </a:r>
            <a:r>
              <a:rPr lang="ko-KR" sz="1400" dirty="0">
                <a:latin typeface="Univers Condensed"/>
                <a:ea typeface="+mn-lt"/>
                <a:cs typeface="+mn-lt"/>
              </a:rPr>
              <a:t> </a:t>
            </a:r>
            <a:r>
              <a:rPr lang="ko-KR" sz="1400" dirty="0" err="1">
                <a:latin typeface="Univers Condensed"/>
                <a:ea typeface="+mn-lt"/>
                <a:cs typeface="+mn-lt"/>
              </a:rPr>
              <a:t>approaches</a:t>
            </a:r>
            <a:r>
              <a:rPr lang="ko-KR" sz="1400" dirty="0">
                <a:latin typeface="Univers Condensed"/>
                <a:ea typeface="+mn-lt"/>
                <a:cs typeface="+mn-lt"/>
              </a:rPr>
              <a:t> </a:t>
            </a:r>
            <a:r>
              <a:rPr lang="ko-KR" sz="1400" dirty="0" err="1">
                <a:latin typeface="Univers Condensed"/>
                <a:ea typeface="+mn-lt"/>
                <a:cs typeface="+mn-lt"/>
              </a:rPr>
              <a:t>pursue</a:t>
            </a:r>
            <a:r>
              <a:rPr lang="ko-KR" sz="1400" dirty="0">
                <a:latin typeface="Univers Condensed"/>
                <a:ea typeface="+mn-lt"/>
                <a:cs typeface="+mn-lt"/>
              </a:rPr>
              <a:t> </a:t>
            </a:r>
            <a:r>
              <a:rPr lang="ko-KR" sz="1400" dirty="0" err="1">
                <a:latin typeface="Univers Condensed"/>
                <a:ea typeface="+mn-lt"/>
                <a:cs typeface="+mn-lt"/>
              </a:rPr>
              <a:t>different</a:t>
            </a:r>
            <a:r>
              <a:rPr lang="ko-KR" sz="1400" dirty="0">
                <a:latin typeface="Univers Condensed"/>
                <a:ea typeface="+mn-lt"/>
                <a:cs typeface="+mn-lt"/>
              </a:rPr>
              <a:t> </a:t>
            </a:r>
            <a:r>
              <a:rPr lang="ko-KR" sz="1400" dirty="0" err="1">
                <a:latin typeface="Univers Condensed"/>
                <a:ea typeface="+mn-lt"/>
                <a:cs typeface="+mn-lt"/>
              </a:rPr>
              <a:t>design</a:t>
            </a:r>
            <a:r>
              <a:rPr lang="ko-KR" sz="1400" dirty="0">
                <a:latin typeface="Univers Condensed"/>
                <a:ea typeface="+mn-lt"/>
                <a:cs typeface="+mn-lt"/>
              </a:rPr>
              <a:t> </a:t>
            </a:r>
            <a:r>
              <a:rPr lang="ko-KR" sz="1400" dirty="0" err="1">
                <a:latin typeface="Univers Condensed"/>
                <a:ea typeface="+mn-lt"/>
                <a:cs typeface="+mn-lt"/>
              </a:rPr>
              <a:t>philosophies</a:t>
            </a:r>
            <a:r>
              <a:rPr lang="ko-KR" sz="1400" dirty="0">
                <a:latin typeface="Univers Condensed"/>
                <a:ea typeface="+mn-lt"/>
                <a:cs typeface="+mn-lt"/>
              </a:rPr>
              <a:t>, and </a:t>
            </a:r>
            <a:r>
              <a:rPr lang="ko-KR" sz="1400" dirty="0" err="1">
                <a:latin typeface="Univers Condensed"/>
                <a:ea typeface="+mn-lt"/>
                <a:cs typeface="+mn-lt"/>
              </a:rPr>
              <a:t>it</a:t>
            </a:r>
            <a:r>
              <a:rPr lang="ko-KR" sz="1400" dirty="0">
                <a:latin typeface="Univers Condensed"/>
                <a:ea typeface="+mn-lt"/>
                <a:cs typeface="+mn-lt"/>
              </a:rPr>
              <a:t> </a:t>
            </a:r>
            <a:r>
              <a:rPr lang="ko-KR" sz="1400" dirty="0" err="1">
                <a:latin typeface="Univers Condensed"/>
                <a:ea typeface="+mn-lt"/>
                <a:cs typeface="+mn-lt"/>
              </a:rPr>
              <a:t>remains</a:t>
            </a:r>
            <a:r>
              <a:rPr lang="ko-KR" sz="1400" dirty="0">
                <a:latin typeface="Univers Condensed"/>
                <a:ea typeface="+mn-lt"/>
                <a:cs typeface="+mn-lt"/>
              </a:rPr>
              <a:t> </a:t>
            </a:r>
            <a:r>
              <a:rPr lang="ko-KR" sz="1400" dirty="0" err="1">
                <a:latin typeface="Univers Condensed"/>
                <a:ea typeface="+mn-lt"/>
                <a:cs typeface="+mn-lt"/>
              </a:rPr>
              <a:t>unclear</a:t>
            </a:r>
            <a:r>
              <a:rPr lang="ko-KR" sz="1400" dirty="0">
                <a:latin typeface="Univers Condensed"/>
                <a:ea typeface="+mn-lt"/>
                <a:cs typeface="+mn-lt"/>
              </a:rPr>
              <a:t> </a:t>
            </a:r>
            <a:r>
              <a:rPr lang="ko-KR" sz="1400" dirty="0" err="1">
                <a:latin typeface="Univers Condensed"/>
                <a:ea typeface="+mn-lt"/>
                <a:cs typeface="+mn-lt"/>
              </a:rPr>
              <a:t>which</a:t>
            </a:r>
            <a:r>
              <a:rPr lang="ko-KR" sz="1400" dirty="0">
                <a:latin typeface="Univers Condensed"/>
                <a:ea typeface="+mn-lt"/>
                <a:cs typeface="+mn-lt"/>
              </a:rPr>
              <a:t> </a:t>
            </a:r>
            <a:r>
              <a:rPr lang="ko-KR" sz="1400" dirty="0" err="1">
                <a:latin typeface="Univers Condensed"/>
                <a:ea typeface="+mn-lt"/>
                <a:cs typeface="+mn-lt"/>
              </a:rPr>
              <a:t>is</a:t>
            </a:r>
            <a:r>
              <a:rPr lang="ko-KR" sz="1400" dirty="0">
                <a:latin typeface="Univers Condensed"/>
                <a:ea typeface="+mn-lt"/>
                <a:cs typeface="+mn-lt"/>
              </a:rPr>
              <a:t> </a:t>
            </a:r>
            <a:r>
              <a:rPr lang="ko-KR" sz="1400" dirty="0" err="1">
                <a:latin typeface="Univers Condensed"/>
                <a:ea typeface="+mn-lt"/>
                <a:cs typeface="+mn-lt"/>
              </a:rPr>
              <a:t>universally</a:t>
            </a:r>
            <a:r>
              <a:rPr lang="ko-KR" sz="1400" dirty="0">
                <a:latin typeface="Univers Condensed"/>
                <a:ea typeface="+mn-lt"/>
                <a:cs typeface="+mn-lt"/>
              </a:rPr>
              <a:t> </a:t>
            </a:r>
            <a:r>
              <a:rPr lang="ko-KR" sz="1400" dirty="0" err="1">
                <a:latin typeface="Univers Condensed"/>
                <a:ea typeface="+mn-lt"/>
                <a:cs typeface="+mn-lt"/>
              </a:rPr>
              <a:t>superior</a:t>
            </a:r>
            <a:r>
              <a:rPr lang="ko-KR" sz="1400" dirty="0">
                <a:latin typeface="Univers Condensed"/>
                <a:ea typeface="+mn-lt"/>
                <a:cs typeface="+mn-lt"/>
              </a:rPr>
              <a:t>.</a:t>
            </a:r>
            <a:endParaRPr lang="ko-KR" sz="1400" dirty="0">
              <a:latin typeface="Univers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2894697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990D6-EC12-9C01-96C8-CC63D47D2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362DB0D1-1139-2374-4889-7B364F2A2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0647861" cy="792346"/>
          </a:xfrm>
        </p:spPr>
        <p:txBody>
          <a:bodyPr>
            <a:normAutofit/>
          </a:bodyPr>
          <a:lstStyle/>
          <a:p>
            <a:r>
              <a:rPr lang="en-US" altLang="ko-KR" sz="2200" dirty="0"/>
              <a:t>Introduce MY Base Source Code _ </a:t>
            </a:r>
            <a:r>
              <a:rPr lang="en-US" altLang="ko-KR" sz="2200" dirty="0" err="1"/>
              <a:t>DiffusionDrive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9C823FD1-C3C7-BC2C-05AD-640D0E601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862" y="1832003"/>
            <a:ext cx="10691265" cy="424671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altLang="ko-KR" b="1" dirty="0">
                <a:latin typeface="+mj-lt"/>
                <a:ea typeface="+mn-lt"/>
                <a:cs typeface="+mn-lt"/>
              </a:rPr>
              <a:t>Title : </a:t>
            </a:r>
            <a:r>
              <a:rPr lang="en-US" altLang="ko-KR" b="1" dirty="0" err="1">
                <a:latin typeface="+mj-lt"/>
                <a:ea typeface="+mn-lt"/>
                <a:cs typeface="+mn-lt"/>
              </a:rPr>
              <a:t>DiffusionDrive</a:t>
            </a:r>
            <a:endParaRPr lang="en-US" altLang="ko-KR" b="1" dirty="0">
              <a:latin typeface="+mj-lt"/>
            </a:endParaRPr>
          </a:p>
          <a:p>
            <a:r>
              <a:rPr lang="en-US" dirty="0">
                <a:latin typeface="+mj-lt"/>
              </a:rPr>
              <a:t>Overview</a:t>
            </a:r>
          </a:p>
          <a:p>
            <a:r>
              <a:rPr lang="en-US" dirty="0" err="1">
                <a:latin typeface="+mj-lt"/>
                <a:ea typeface="+mn-lt"/>
                <a:cs typeface="+mn-lt"/>
              </a:rPr>
              <a:t>DiffusionDrive</a:t>
            </a:r>
            <a:r>
              <a:rPr lang="en-US" dirty="0">
                <a:latin typeface="+mj-lt"/>
                <a:ea typeface="+mn-lt"/>
                <a:cs typeface="+mn-lt"/>
              </a:rPr>
              <a:t> is one of the most representative U-Net-based diffusion planning frameworks.</a:t>
            </a:r>
            <a:endParaRPr lang="en-US" dirty="0">
              <a:latin typeface="+mj-lt"/>
            </a:endParaRPr>
          </a:p>
          <a:p>
            <a:r>
              <a:rPr lang="en-US" dirty="0">
                <a:latin typeface="+mj-lt"/>
                <a:ea typeface="+mn-lt"/>
                <a:cs typeface="+mn-lt"/>
              </a:rPr>
              <a:t>It evolves from previous works: </a:t>
            </a:r>
            <a:r>
              <a:rPr lang="en-US" b="1" dirty="0" err="1">
                <a:latin typeface="+mj-lt"/>
                <a:ea typeface="+mn-lt"/>
                <a:cs typeface="+mn-lt"/>
              </a:rPr>
              <a:t>SparseDrive</a:t>
            </a:r>
            <a:r>
              <a:rPr lang="en-US" b="1" dirty="0">
                <a:latin typeface="+mj-lt"/>
                <a:ea typeface="+mn-lt"/>
                <a:cs typeface="+mn-lt"/>
              </a:rPr>
              <a:t> → </a:t>
            </a:r>
            <a:r>
              <a:rPr lang="en-US" b="1" dirty="0" err="1">
                <a:latin typeface="+mj-lt"/>
                <a:ea typeface="+mn-lt"/>
                <a:cs typeface="+mn-lt"/>
              </a:rPr>
              <a:t>DiffusionDrive</a:t>
            </a:r>
            <a:r>
              <a:rPr lang="en-US" b="1" dirty="0">
                <a:latin typeface="+mj-lt"/>
                <a:ea typeface="+mn-lt"/>
                <a:cs typeface="+mn-lt"/>
              </a:rPr>
              <a:t> → DiffusionDriveV2</a:t>
            </a:r>
            <a:r>
              <a:rPr lang="en-US" dirty="0">
                <a:latin typeface="+mj-lt"/>
                <a:ea typeface="+mn-lt"/>
                <a:cs typeface="+mn-lt"/>
              </a:rPr>
              <a:t>.</a:t>
            </a:r>
            <a:endParaRPr lang="en-US" dirty="0">
              <a:latin typeface="+mj-lt"/>
            </a:endParaRPr>
          </a:p>
          <a:p>
            <a:pPr lvl="1">
              <a:buNone/>
            </a:pPr>
            <a:r>
              <a:rPr lang="en-US" dirty="0">
                <a:latin typeface="+mj-lt"/>
              </a:rPr>
              <a:t>Design Philosophy</a:t>
            </a:r>
          </a:p>
          <a:p>
            <a:pPr>
              <a:buFont typeface="Arial"/>
              <a:buChar char="•"/>
            </a:pPr>
            <a:r>
              <a:rPr lang="en-US" dirty="0">
                <a:latin typeface="+mj-lt"/>
                <a:ea typeface="+mn-lt"/>
                <a:cs typeface="+mn-lt"/>
              </a:rPr>
              <a:t>Focuses on optimization-oriented planning rather than large-scale model expansion</a:t>
            </a:r>
            <a:endParaRPr lang="en-US" dirty="0">
              <a:latin typeface="+mj-lt"/>
            </a:endParaRPr>
          </a:p>
          <a:p>
            <a:pPr>
              <a:buFont typeface="Arial"/>
              <a:buChar char="•"/>
            </a:pPr>
            <a:r>
              <a:rPr lang="en-US" dirty="0">
                <a:latin typeface="+mj-lt"/>
                <a:ea typeface="+mn-lt"/>
                <a:cs typeface="+mn-lt"/>
              </a:rPr>
              <a:t>Emphasizes:</a:t>
            </a:r>
            <a:endParaRPr lang="en-US" dirty="0">
              <a:latin typeface="+mj-lt"/>
            </a:endParaRPr>
          </a:p>
          <a:p>
            <a:pPr marL="971550" lvl="1" indent="-285750">
              <a:buFont typeface="Arial"/>
              <a:buChar char="•"/>
            </a:pPr>
            <a:r>
              <a:rPr lang="en-US" dirty="0">
                <a:latin typeface="+mj-lt"/>
                <a:ea typeface="+mn-lt"/>
                <a:cs typeface="+mn-lt"/>
              </a:rPr>
              <a:t>small model size</a:t>
            </a:r>
            <a:endParaRPr lang="en-US" dirty="0">
              <a:latin typeface="+mj-lt"/>
            </a:endParaRPr>
          </a:p>
          <a:p>
            <a:pPr marL="971550" lvl="1" indent="-285750">
              <a:buFont typeface="Arial"/>
              <a:buChar char="•"/>
            </a:pPr>
            <a:r>
              <a:rPr lang="en-US" dirty="0">
                <a:latin typeface="+mj-lt"/>
                <a:ea typeface="+mn-lt"/>
                <a:cs typeface="+mn-lt"/>
              </a:rPr>
              <a:t>low training data requirement</a:t>
            </a:r>
            <a:endParaRPr lang="en-US" dirty="0">
              <a:latin typeface="+mj-lt"/>
            </a:endParaRPr>
          </a:p>
          <a:p>
            <a:pPr marL="971550" lvl="1" indent="-285750">
              <a:buFont typeface="Arial"/>
              <a:buChar char="•"/>
            </a:pPr>
            <a:r>
              <a:rPr lang="en-US" dirty="0">
                <a:latin typeface="+mj-lt"/>
                <a:ea typeface="+mn-lt"/>
                <a:cs typeface="+mn-lt"/>
              </a:rPr>
              <a:t>fast inference speed</a:t>
            </a:r>
            <a:endParaRPr lang="en-US" dirty="0">
              <a:latin typeface="+mj-lt"/>
            </a:endParaRPr>
          </a:p>
          <a:p>
            <a:pPr marL="971550" lvl="1" indent="-285750">
              <a:buFont typeface="Arial"/>
              <a:buChar char="•"/>
            </a:pPr>
            <a:r>
              <a:rPr lang="en-US" dirty="0">
                <a:latin typeface="+mj-lt"/>
                <a:ea typeface="+mn-lt"/>
                <a:cs typeface="+mn-lt"/>
              </a:rPr>
              <a:t>real-time performance</a:t>
            </a:r>
            <a:endParaRPr lang="en-US" dirty="0">
              <a:latin typeface="+mj-lt"/>
            </a:endParaRPr>
          </a:p>
          <a:p>
            <a:pPr marL="457200" lvl="1" indent="0">
              <a:buFont typeface="Courier New" panose="020B0604020202020204" pitchFamily="34" charset="0"/>
              <a:buNone/>
            </a:pPr>
            <a:endParaRPr lang="en-US" altLang="ko-KR" b="1" dirty="0">
              <a:latin typeface="+mj-lt"/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altLang="ko-KR" dirty="0">
              <a:latin typeface="+mj-lt"/>
              <a:ea typeface="+mn-lt"/>
              <a:cs typeface="+mn-lt"/>
            </a:endParaRPr>
          </a:p>
          <a:p>
            <a:endParaRPr lang="en-US" altLang="ko-KR" b="1" dirty="0">
              <a:latin typeface="+mj-lt"/>
            </a:endParaRPr>
          </a:p>
          <a:p>
            <a:pPr marL="342900" indent="-342900"/>
            <a:endParaRPr lang="ko-KR" altLang="en-US" dirty="0">
              <a:latin typeface="+mj-lt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94795B5-0B2C-2578-73D6-2F98BB38C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67351AE-7E7A-2F34-1BAA-A9C7B36DC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/>
          <a:lstStyle/>
          <a:p>
            <a:r>
              <a:rPr lang="en-US" dirty="0"/>
              <a:t>7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54283E7-F380-8B83-3AD5-F6A31E7E247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ko-KR" altLang="en-US" dirty="0" err="1">
                <a:latin typeface="+mj-lt"/>
              </a:rPr>
              <a:t>Research</a:t>
            </a:r>
            <a:r>
              <a:rPr lang="ko-KR" altLang="en-US" dirty="0">
                <a:latin typeface="+mj-lt"/>
              </a:rPr>
              <a:t> </a:t>
            </a:r>
            <a:r>
              <a:rPr lang="ko-KR" altLang="en-US" dirty="0" err="1">
                <a:latin typeface="+mj-lt"/>
              </a:rPr>
              <a:t>Goal</a:t>
            </a:r>
            <a:r>
              <a:rPr lang="ko-KR" altLang="en-US" dirty="0">
                <a:latin typeface="+mj-lt"/>
              </a:rPr>
              <a:t> &amp; </a:t>
            </a:r>
            <a:r>
              <a:rPr lang="ko-KR" altLang="en-US" dirty="0" err="1">
                <a:latin typeface="+mj-lt"/>
              </a:rPr>
              <a:t>Workflow</a:t>
            </a:r>
          </a:p>
        </p:txBody>
      </p:sp>
      <p:pic>
        <p:nvPicPr>
          <p:cNvPr id="2" name="그림 1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1FF986-E321-F5E8-1F00-12AFAD03BE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147" r="79" b="9817"/>
          <a:stretch>
            <a:fillRect/>
          </a:stretch>
        </p:blipFill>
        <p:spPr>
          <a:xfrm>
            <a:off x="6096000" y="1554374"/>
            <a:ext cx="5495366" cy="84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731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02477-0963-8F5B-A8A2-3751952EF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3ADDB338-6C4E-F64F-E650-A61534AF2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0647861" cy="792346"/>
          </a:xfrm>
        </p:spPr>
        <p:txBody>
          <a:bodyPr>
            <a:normAutofit/>
          </a:bodyPr>
          <a:lstStyle/>
          <a:p>
            <a:r>
              <a:rPr lang="en-US" altLang="ko-KR" sz="2200" dirty="0"/>
              <a:t>Introduce MY Base Source Code 2 _ Diffusion-Planner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8DB972D-C5C9-4CC1-6094-505896DD1B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3341" y="1832003"/>
            <a:ext cx="7080047" cy="424671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ko-KR" b="1" dirty="0">
                <a:latin typeface="+mj-lt"/>
                <a:ea typeface="+mn-lt"/>
                <a:cs typeface="+mn-lt"/>
              </a:rPr>
              <a:t>Title : Diffusion-Planner</a:t>
            </a:r>
            <a:endParaRPr lang="en-US" altLang="ko-KR" b="1" dirty="0">
              <a:latin typeface="+mj-lt"/>
            </a:endParaRPr>
          </a:p>
          <a:p>
            <a:pPr marL="0" indent="0">
              <a:buNone/>
            </a:pPr>
            <a:r>
              <a:rPr lang="en-US" b="1" dirty="0">
                <a:latin typeface="+mj-lt"/>
              </a:rPr>
              <a:t>Overview</a:t>
            </a:r>
            <a:endParaRPr lang="en-US" altLang="ko-KR" b="1" dirty="0">
              <a:latin typeface="+mj-lt"/>
            </a:endParaRPr>
          </a:p>
          <a:p>
            <a:r>
              <a:rPr lang="en-US" altLang="ko-KR" dirty="0">
                <a:latin typeface="+mj-lt"/>
                <a:ea typeface="+mn-lt"/>
                <a:cs typeface="+mn-lt"/>
              </a:rPr>
              <a:t>Diffusion-Planner</a:t>
            </a:r>
            <a:r>
              <a:rPr lang="ko-KR" altLang="en-US" dirty="0"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latin typeface="+mj-lt"/>
                <a:ea typeface="+mn-lt"/>
                <a:cs typeface="+mn-lt"/>
              </a:rPr>
              <a:t>is</a:t>
            </a:r>
            <a:r>
              <a:rPr lang="ko-KR" altLang="en-US" dirty="0"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latin typeface="+mj-lt"/>
                <a:ea typeface="+mn-lt"/>
                <a:cs typeface="+mn-lt"/>
              </a:rPr>
              <a:t>a</a:t>
            </a:r>
            <a:r>
              <a:rPr lang="ko-KR" altLang="en-US" dirty="0"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latin typeface="+mj-lt"/>
                <a:ea typeface="+mn-lt"/>
                <a:cs typeface="+mn-lt"/>
              </a:rPr>
              <a:t>representative</a:t>
            </a:r>
            <a:r>
              <a:rPr lang="ko-KR" altLang="en-US" dirty="0">
                <a:latin typeface="+mj-lt"/>
                <a:ea typeface="+mn-lt"/>
                <a:cs typeface="+mn-lt"/>
              </a:rPr>
              <a:t> </a:t>
            </a:r>
            <a:r>
              <a:rPr lang="en-US" altLang="ko-KR" b="1" dirty="0">
                <a:latin typeface="+mj-lt"/>
                <a:ea typeface="+mn-lt"/>
                <a:cs typeface="+mn-lt"/>
              </a:rPr>
              <a:t>Transformer-based</a:t>
            </a:r>
            <a:r>
              <a:rPr lang="ko-KR" altLang="en-US" b="1" dirty="0">
                <a:latin typeface="+mj-lt"/>
                <a:ea typeface="+mn-lt"/>
                <a:cs typeface="+mn-lt"/>
              </a:rPr>
              <a:t> </a:t>
            </a:r>
            <a:r>
              <a:rPr lang="en-US" altLang="ko-KR" b="1" dirty="0">
                <a:latin typeface="+mj-lt"/>
                <a:ea typeface="+mn-lt"/>
                <a:cs typeface="+mn-lt"/>
              </a:rPr>
              <a:t>diffusion</a:t>
            </a:r>
            <a:r>
              <a:rPr lang="ko-KR" altLang="en-US" b="1" dirty="0">
                <a:latin typeface="+mj-lt"/>
                <a:ea typeface="+mn-lt"/>
                <a:cs typeface="+mn-lt"/>
              </a:rPr>
              <a:t> </a:t>
            </a:r>
            <a:r>
              <a:rPr lang="en-US" altLang="ko-KR" b="1" dirty="0">
                <a:latin typeface="+mj-lt"/>
                <a:ea typeface="+mn-lt"/>
                <a:cs typeface="+mn-lt"/>
              </a:rPr>
              <a:t>model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for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end-to-end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trajectory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planning</a:t>
            </a:r>
            <a:r>
              <a:rPr lang="ko-KR" dirty="0">
                <a:latin typeface="+mj-lt"/>
                <a:ea typeface="+mn-lt"/>
                <a:cs typeface="+mn-lt"/>
              </a:rPr>
              <a:t>.</a:t>
            </a:r>
            <a:endParaRPr lang="ko-KR" dirty="0">
              <a:latin typeface="+mj-lt"/>
            </a:endParaRPr>
          </a:p>
          <a:p>
            <a:pPr marL="0" indent="0">
              <a:buNone/>
            </a:pPr>
            <a:r>
              <a:rPr lang="ko-KR" b="1" dirty="0" err="1">
                <a:latin typeface="+mj-lt"/>
              </a:rPr>
              <a:t>Research</a:t>
            </a:r>
            <a:r>
              <a:rPr lang="ko-KR" b="1" dirty="0">
                <a:latin typeface="+mj-lt"/>
              </a:rPr>
              <a:t> </a:t>
            </a:r>
            <a:r>
              <a:rPr lang="ko-KR" b="1" dirty="0" err="1">
                <a:latin typeface="+mj-lt"/>
              </a:rPr>
              <a:t>Focus</a:t>
            </a:r>
            <a:endParaRPr lang="ko-KR" altLang="en-US" b="1" dirty="0">
              <a:latin typeface="+mj-lt"/>
            </a:endParaRPr>
          </a:p>
          <a:p>
            <a:r>
              <a:rPr lang="ko-KR" dirty="0" err="1">
                <a:latin typeface="+mj-lt"/>
                <a:ea typeface="+mn-lt"/>
                <a:cs typeface="+mn-lt"/>
              </a:rPr>
              <a:t>Focuses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on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planning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in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end-to-end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autonomous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driving</a:t>
            </a:r>
            <a:endParaRPr lang="ko-KR" dirty="0" err="1">
              <a:latin typeface="+mj-lt"/>
            </a:endParaRPr>
          </a:p>
          <a:p>
            <a:r>
              <a:rPr lang="ko-KR" dirty="0" err="1">
                <a:latin typeface="+mj-lt"/>
                <a:ea typeface="+mn-lt"/>
                <a:cs typeface="+mn-lt"/>
              </a:rPr>
              <a:t>Assumes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perception</a:t>
            </a:r>
            <a:r>
              <a:rPr lang="ko-KR" dirty="0">
                <a:latin typeface="+mj-lt"/>
                <a:ea typeface="+mn-lt"/>
                <a:cs typeface="+mn-lt"/>
              </a:rPr>
              <a:t> (</a:t>
            </a:r>
            <a:r>
              <a:rPr lang="ko-KR" dirty="0" err="1">
                <a:latin typeface="+mj-lt"/>
                <a:ea typeface="+mn-lt"/>
                <a:cs typeface="+mn-lt"/>
              </a:rPr>
              <a:t>e.g</a:t>
            </a:r>
            <a:r>
              <a:rPr lang="ko-KR" dirty="0">
                <a:latin typeface="+mj-lt"/>
                <a:ea typeface="+mn-lt"/>
                <a:cs typeface="+mn-lt"/>
              </a:rPr>
              <a:t>., BEV </a:t>
            </a:r>
            <a:r>
              <a:rPr lang="ko-KR" dirty="0" err="1">
                <a:latin typeface="+mj-lt"/>
                <a:ea typeface="+mn-lt"/>
                <a:cs typeface="+mn-lt"/>
              </a:rPr>
              <a:t>representation</a:t>
            </a:r>
            <a:r>
              <a:rPr lang="ko-KR" dirty="0">
                <a:latin typeface="+mj-lt"/>
                <a:ea typeface="+mn-lt"/>
                <a:cs typeface="+mn-lt"/>
              </a:rPr>
              <a:t>) </a:t>
            </a:r>
            <a:r>
              <a:rPr lang="ko-KR" dirty="0" err="1">
                <a:latin typeface="+mj-lt"/>
                <a:ea typeface="+mn-lt"/>
                <a:cs typeface="+mn-lt"/>
              </a:rPr>
              <a:t>is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already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provided</a:t>
            </a:r>
            <a:endParaRPr lang="ko-KR" dirty="0" err="1">
              <a:latin typeface="+mj-lt"/>
            </a:endParaRPr>
          </a:p>
          <a:p>
            <a:r>
              <a:rPr lang="ko-KR" dirty="0" err="1">
                <a:latin typeface="+mj-lt"/>
                <a:ea typeface="+mn-lt"/>
                <a:cs typeface="+mn-lt"/>
              </a:rPr>
              <a:t>Investigates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trajectory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generation</a:t>
            </a:r>
            <a:r>
              <a:rPr lang="ko-KR" dirty="0">
                <a:latin typeface="+mj-lt"/>
                <a:ea typeface="+mn-lt"/>
                <a:cs typeface="+mn-lt"/>
              </a:rPr>
              <a:t> and </a:t>
            </a:r>
            <a:r>
              <a:rPr lang="ko-KR" dirty="0" err="1">
                <a:latin typeface="+mj-lt"/>
                <a:ea typeface="+mn-lt"/>
                <a:cs typeface="+mn-lt"/>
              </a:rPr>
              <a:t>decision-making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in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complex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driving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scenarios</a:t>
            </a:r>
            <a:endParaRPr lang="ko-KR" dirty="0" err="1">
              <a:latin typeface="+mj-lt"/>
            </a:endParaRPr>
          </a:p>
          <a:p>
            <a:pPr marL="0" indent="0">
              <a:buNone/>
            </a:pPr>
            <a:r>
              <a:rPr lang="ko-KR" b="1" dirty="0" err="1">
                <a:latin typeface="+mj-lt"/>
              </a:rPr>
              <a:t>Dataset</a:t>
            </a:r>
            <a:r>
              <a:rPr lang="ko-KR" b="1" dirty="0">
                <a:latin typeface="+mj-lt"/>
              </a:rPr>
              <a:t> &amp; </a:t>
            </a:r>
            <a:r>
              <a:rPr lang="ko-KR" b="1" dirty="0" err="1">
                <a:latin typeface="+mj-lt"/>
              </a:rPr>
              <a:t>Evaluation</a:t>
            </a:r>
            <a:r>
              <a:rPr lang="ko-KR" b="1" dirty="0">
                <a:latin typeface="+mj-lt"/>
              </a:rPr>
              <a:t> </a:t>
            </a:r>
            <a:r>
              <a:rPr lang="ko-KR" b="1" dirty="0" err="1">
                <a:latin typeface="+mj-lt"/>
              </a:rPr>
              <a:t>Environment</a:t>
            </a:r>
            <a:endParaRPr lang="ko-KR" altLang="en-US" b="1" dirty="0">
              <a:latin typeface="+mj-lt"/>
            </a:endParaRPr>
          </a:p>
          <a:p>
            <a:r>
              <a:rPr lang="ko-KR" dirty="0" err="1">
                <a:latin typeface="+mj-lt"/>
                <a:ea typeface="+mn-lt"/>
                <a:cs typeface="+mn-lt"/>
              </a:rPr>
              <a:t>Evaluated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on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the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b="1" dirty="0" err="1">
                <a:latin typeface="+mj-lt"/>
                <a:ea typeface="+mn-lt"/>
                <a:cs typeface="+mn-lt"/>
              </a:rPr>
              <a:t>nuPlan</a:t>
            </a:r>
            <a:r>
              <a:rPr lang="ko-KR" b="1" dirty="0">
                <a:latin typeface="+mj-lt"/>
                <a:ea typeface="+mn-lt"/>
                <a:cs typeface="+mn-lt"/>
              </a:rPr>
              <a:t> </a:t>
            </a:r>
            <a:r>
              <a:rPr lang="ko-KR" b="1" dirty="0" err="1">
                <a:latin typeface="+mj-lt"/>
                <a:ea typeface="+mn-lt"/>
                <a:cs typeface="+mn-lt"/>
              </a:rPr>
              <a:t>dataset</a:t>
            </a:r>
            <a:endParaRPr lang="ko-KR" dirty="0" err="1">
              <a:latin typeface="+mj-lt"/>
            </a:endParaRPr>
          </a:p>
          <a:p>
            <a:r>
              <a:rPr lang="ko-KR" dirty="0" err="1">
                <a:latin typeface="+mj-lt"/>
                <a:ea typeface="+mn-lt"/>
                <a:cs typeface="+mn-lt"/>
              </a:rPr>
              <a:t>Uses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b="1" dirty="0" err="1">
                <a:latin typeface="+mj-lt"/>
                <a:ea typeface="+mn-lt"/>
                <a:cs typeface="+mn-lt"/>
              </a:rPr>
              <a:t>closed-loop</a:t>
            </a:r>
            <a:r>
              <a:rPr lang="ko-KR" b="1" dirty="0">
                <a:latin typeface="+mj-lt"/>
                <a:ea typeface="+mn-lt"/>
                <a:cs typeface="+mn-lt"/>
              </a:rPr>
              <a:t> </a:t>
            </a:r>
            <a:r>
              <a:rPr lang="ko-KR" b="1" dirty="0" err="1">
                <a:latin typeface="+mj-lt"/>
                <a:ea typeface="+mn-lt"/>
                <a:cs typeface="+mn-lt"/>
              </a:rPr>
              <a:t>simulation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for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realistic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planning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evaluation</a:t>
            </a:r>
            <a:endParaRPr lang="ko-KR" dirty="0" err="1">
              <a:latin typeface="+mj-lt"/>
            </a:endParaRPr>
          </a:p>
          <a:p>
            <a:endParaRPr lang="ko-KR" altLang="en-US" dirty="0">
              <a:latin typeface="+mj-lt"/>
            </a:endParaRPr>
          </a:p>
          <a:p>
            <a:endParaRPr lang="ko-KR" altLang="en-US" dirty="0">
              <a:latin typeface="+mj-lt"/>
            </a:endParaRPr>
          </a:p>
          <a:p>
            <a:pPr marL="457200" lvl="1" indent="0">
              <a:buNone/>
            </a:pPr>
            <a:endParaRPr lang="en-US" altLang="ko-KR" b="1" dirty="0">
              <a:latin typeface="+mj-lt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altLang="ko-KR" dirty="0">
              <a:latin typeface="+mj-lt"/>
            </a:endParaRPr>
          </a:p>
          <a:p>
            <a:endParaRPr lang="en-US" altLang="ko-KR" b="1" dirty="0">
              <a:latin typeface="+mj-lt"/>
            </a:endParaRPr>
          </a:p>
          <a:p>
            <a:pPr marL="342900" indent="-342900"/>
            <a:endParaRPr lang="ko-KR" altLang="en-US" dirty="0">
              <a:latin typeface="+mj-lt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C77F62-6CCB-39E5-F2DD-FF6994495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2BA83C6-42F2-C544-76FA-78A5D4CBD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/>
          <a:lstStyle/>
          <a:p>
            <a:r>
              <a:rPr lang="en-US" dirty="0"/>
              <a:t>8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324DCE7-C3F4-E5C8-F598-6D86E30D9A0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ko-KR" altLang="en-US" dirty="0" err="1">
                <a:latin typeface="+mj-lt"/>
              </a:rPr>
              <a:t>Research</a:t>
            </a:r>
            <a:r>
              <a:rPr lang="ko-KR" altLang="en-US" dirty="0">
                <a:latin typeface="+mj-lt"/>
              </a:rPr>
              <a:t> </a:t>
            </a:r>
            <a:r>
              <a:rPr lang="ko-KR" altLang="en-US" dirty="0" err="1">
                <a:latin typeface="+mj-lt"/>
              </a:rPr>
              <a:t>Goal</a:t>
            </a:r>
            <a:r>
              <a:rPr lang="ko-KR" altLang="en-US" dirty="0">
                <a:latin typeface="+mj-lt"/>
              </a:rPr>
              <a:t> &amp; </a:t>
            </a:r>
            <a:r>
              <a:rPr lang="ko-KR" altLang="en-US" dirty="0" err="1">
                <a:latin typeface="+mj-lt"/>
              </a:rPr>
              <a:t>Workflow</a:t>
            </a:r>
          </a:p>
        </p:txBody>
      </p:sp>
      <p:pic>
        <p:nvPicPr>
          <p:cNvPr id="9" name="그림 8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1010E90-8598-6BC3-8846-CF3016D63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329" y="1554374"/>
            <a:ext cx="5292037" cy="792508"/>
          </a:xfrm>
          <a:prstGeom prst="rect">
            <a:avLst/>
          </a:prstGeom>
        </p:spPr>
      </p:pic>
      <p:pic>
        <p:nvPicPr>
          <p:cNvPr id="10" name="그림 9" descr="Video 3">
            <a:extLst>
              <a:ext uri="{FF2B5EF4-FFF2-40B4-BE49-F238E27FC236}">
                <a16:creationId xmlns:a16="http://schemas.microsoft.com/office/drawing/2014/main" id="{032091E8-684C-4E59-DA84-889F18454A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459" y="2807797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90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5B10D-DB9A-960F-38E8-C27E2258D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3BAEAE70-4704-D929-D322-FE0B9C330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0647861" cy="792346"/>
          </a:xfrm>
        </p:spPr>
        <p:txBody>
          <a:bodyPr>
            <a:normAutofit/>
          </a:bodyPr>
          <a:lstStyle/>
          <a:p>
            <a:r>
              <a:rPr lang="en-US" altLang="ko-KR" sz="2200" dirty="0"/>
              <a:t>Introduce MY Base Source Code's Feature</a:t>
            </a:r>
            <a:endParaRPr lang="ko-KR" altLang="en-US" dirty="0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9D64D2FC-0920-4464-6F58-D9D6C0949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733" y="1832003"/>
            <a:ext cx="10740959" cy="424671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 err="1"/>
              <a:t>DiffusionDrive</a:t>
            </a:r>
            <a:endParaRPr lang="ko-KR" altLang="en-US" b="1" dirty="0" err="1"/>
          </a:p>
          <a:p>
            <a:r>
              <a:rPr lang="en-US" b="1" dirty="0">
                <a:ea typeface="+mn-lt"/>
                <a:cs typeface="+mn-lt"/>
              </a:rPr>
              <a:t>Key Feature : </a:t>
            </a:r>
            <a:r>
              <a:rPr lang="en-US" dirty="0">
                <a:ea typeface="+mn-lt"/>
                <a:cs typeface="+mn-lt"/>
              </a:rPr>
              <a:t>Computationally efficient and lightweight architecture</a:t>
            </a:r>
          </a:p>
          <a:p>
            <a:r>
              <a:rPr lang="en-US" b="1" dirty="0">
                <a:ea typeface="+mn-lt"/>
                <a:cs typeface="+mn-lt"/>
              </a:rPr>
              <a:t>Research Focus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Investigation of optimization strategies and reinforcement learning approaches for diffusion-based autonomous driving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Diffusion-Planner</a:t>
            </a:r>
          </a:p>
          <a:p>
            <a:r>
              <a:rPr lang="en-US" b="1" dirty="0">
                <a:ea typeface="+mn-lt"/>
                <a:cs typeface="+mn-lt"/>
              </a:rPr>
              <a:t>Key Feature :</a:t>
            </a:r>
            <a:r>
              <a:rPr lang="en-US" dirty="0">
                <a:ea typeface="+mn-lt"/>
                <a:cs typeface="+mn-lt"/>
              </a:rPr>
              <a:t> Support for complex and flexible planning algorithms</a:t>
            </a:r>
          </a:p>
          <a:p>
            <a:r>
              <a:rPr lang="en-US" b="1" dirty="0">
                <a:ea typeface="+mn-lt"/>
                <a:cs typeface="+mn-lt"/>
              </a:rPr>
              <a:t>Research Focus :</a:t>
            </a:r>
            <a:r>
              <a:rPr lang="en-US" dirty="0">
                <a:ea typeface="+mn-lt"/>
                <a:cs typeface="+mn-lt"/>
              </a:rPr>
              <a:t> Development of high-dimensional planning models integrating LLMs, VLMs, vehicle dynamics, and relative motion reasoning</a:t>
            </a:r>
          </a:p>
          <a:p>
            <a:endParaRPr lang="en-US" altLang="ko-KR" b="1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8C8CEC6-E9D0-8F56-3D88-AB3BD3F9A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11F17A-4036-5FC1-101E-8F3AE7948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/>
          <a:lstStyle/>
          <a:p>
            <a:r>
              <a:rPr lang="en-US" dirty="0"/>
              <a:t>9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430E4EF-3FAC-14BD-0A2B-31F4E57C030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ko-KR" altLang="en-US" dirty="0" err="1">
                <a:latin typeface="+mj-lt"/>
              </a:rPr>
              <a:t>Research</a:t>
            </a:r>
            <a:r>
              <a:rPr lang="ko-KR" altLang="en-US" dirty="0">
                <a:latin typeface="+mj-lt"/>
              </a:rPr>
              <a:t> </a:t>
            </a:r>
            <a:r>
              <a:rPr lang="ko-KR" altLang="en-US" dirty="0" err="1">
                <a:latin typeface="+mj-lt"/>
              </a:rPr>
              <a:t>Goal</a:t>
            </a:r>
            <a:r>
              <a:rPr lang="ko-KR" altLang="en-US" dirty="0">
                <a:latin typeface="+mj-lt"/>
              </a:rPr>
              <a:t> &amp; </a:t>
            </a:r>
            <a:r>
              <a:rPr lang="ko-KR" altLang="en-US" dirty="0" err="1">
                <a:latin typeface="+mj-lt"/>
              </a:rPr>
              <a:t>Workflow</a:t>
            </a:r>
          </a:p>
        </p:txBody>
      </p:sp>
    </p:spTree>
    <p:extLst>
      <p:ext uri="{BB962C8B-B14F-4D97-AF65-F5344CB8AC3E}">
        <p14:creationId xmlns:p14="http://schemas.microsoft.com/office/powerpoint/2010/main" val="1093365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F2344-8835-D673-E902-8B9DEB4F1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A56AD3E7-2159-77DE-AC52-DCC6AF5C4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0647861" cy="792346"/>
          </a:xfrm>
        </p:spPr>
        <p:txBody>
          <a:bodyPr>
            <a:normAutofit/>
          </a:bodyPr>
          <a:lstStyle/>
          <a:p>
            <a:r>
              <a:rPr lang="en-US" altLang="ko-KR" sz="2200" dirty="0"/>
              <a:t>My experiments Work Flow</a:t>
            </a:r>
            <a:endParaRPr lang="en-US" sz="22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0FE6B31-2211-F2AF-4163-7850D1841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55CCD5-FF68-0F22-167D-3BAC5CCD1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/>
          <a:lstStyle/>
          <a:p>
            <a:r>
              <a:rPr lang="en-US" dirty="0"/>
              <a:t>10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09CC964-088F-ED1F-73FF-7F8EBBD748E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ko-KR" altLang="en-US" dirty="0" err="1">
                <a:latin typeface="+mj-lt"/>
              </a:rPr>
              <a:t>Research</a:t>
            </a:r>
            <a:r>
              <a:rPr lang="ko-KR" altLang="en-US" dirty="0">
                <a:latin typeface="+mj-lt"/>
              </a:rPr>
              <a:t> </a:t>
            </a:r>
            <a:r>
              <a:rPr lang="ko-KR" altLang="en-US" dirty="0" err="1">
                <a:latin typeface="+mj-lt"/>
              </a:rPr>
              <a:t>Goal</a:t>
            </a:r>
            <a:r>
              <a:rPr lang="ko-KR" altLang="en-US" dirty="0">
                <a:latin typeface="+mj-lt"/>
              </a:rPr>
              <a:t> &amp; </a:t>
            </a:r>
            <a:r>
              <a:rPr lang="ko-KR" altLang="en-US" dirty="0" err="1">
                <a:latin typeface="+mj-lt"/>
              </a:rPr>
              <a:t>Workflow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03D385-43CC-BD90-8A60-5A9A397F8E6A}"/>
              </a:ext>
            </a:extLst>
          </p:cNvPr>
          <p:cNvSpPr txBox="1"/>
          <p:nvPr/>
        </p:nvSpPr>
        <p:spPr>
          <a:xfrm>
            <a:off x="554823" y="2827130"/>
            <a:ext cx="75647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latin typeface="+mj-lt"/>
              </a:rPr>
              <a:t>PC1. </a:t>
            </a:r>
          </a:p>
          <a:p>
            <a:r>
              <a:rPr lang="ko-KR" altLang="en-US" dirty="0">
                <a:latin typeface="+mj-lt"/>
              </a:rPr>
              <a:t>4090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D58A42-2D1C-4559-7606-58051D79EF67}"/>
              </a:ext>
            </a:extLst>
          </p:cNvPr>
          <p:cNvSpPr txBox="1"/>
          <p:nvPr/>
        </p:nvSpPr>
        <p:spPr>
          <a:xfrm>
            <a:off x="538258" y="4218608"/>
            <a:ext cx="92213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latin typeface="+mj-lt"/>
              </a:rPr>
              <a:t>PC2. </a:t>
            </a:r>
          </a:p>
          <a:p>
            <a:r>
              <a:rPr lang="ko-KR" altLang="en-US" dirty="0">
                <a:latin typeface="+mj-lt"/>
              </a:rPr>
              <a:t>H100</a:t>
            </a:r>
          </a:p>
        </p:txBody>
      </p:sp>
      <p:pic>
        <p:nvPicPr>
          <p:cNvPr id="12" name="그래픽 11" descr="컴퓨터 단색으로 채워진">
            <a:extLst>
              <a:ext uri="{FF2B5EF4-FFF2-40B4-BE49-F238E27FC236}">
                <a16:creationId xmlns:a16="http://schemas.microsoft.com/office/drawing/2014/main" id="{487EAACE-F847-75F7-F23A-53B29B50E3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78665" y="2690191"/>
            <a:ext cx="914400" cy="914400"/>
          </a:xfrm>
          <a:prstGeom prst="rect">
            <a:avLst/>
          </a:prstGeom>
        </p:spPr>
      </p:pic>
      <p:pic>
        <p:nvPicPr>
          <p:cNvPr id="13" name="그래픽 12" descr="컴퓨터 단색으로 채워진">
            <a:extLst>
              <a:ext uri="{FF2B5EF4-FFF2-40B4-BE49-F238E27FC236}">
                <a16:creationId xmlns:a16="http://schemas.microsoft.com/office/drawing/2014/main" id="{E455B3A9-0C30-3BF7-1CE4-55C573841D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78666" y="4081669"/>
            <a:ext cx="914400" cy="914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37E5915-FAEE-2C27-635E-2910C6C6862F}"/>
              </a:ext>
            </a:extLst>
          </p:cNvPr>
          <p:cNvSpPr txBox="1"/>
          <p:nvPr/>
        </p:nvSpPr>
        <p:spPr>
          <a:xfrm>
            <a:off x="774364" y="1971261"/>
            <a:ext cx="180812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b="1" dirty="0" err="1">
                <a:latin typeface="+mj-lt"/>
              </a:rPr>
              <a:t>Learning</a:t>
            </a:r>
            <a:r>
              <a:rPr lang="ko-KR" altLang="en-US" b="1" dirty="0">
                <a:latin typeface="+mj-lt"/>
              </a:rPr>
              <a:t> </a:t>
            </a:r>
            <a:r>
              <a:rPr lang="ko-KR" altLang="en-US" b="1" dirty="0" err="1">
                <a:latin typeface="+mj-lt"/>
              </a:rPr>
              <a:t>Tools</a:t>
            </a:r>
            <a:endParaRPr lang="ko-KR" altLang="en-US" b="1" dirty="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D296B6-769B-E9E5-1AA0-43A669D4FAFD}"/>
              </a:ext>
            </a:extLst>
          </p:cNvPr>
          <p:cNvSpPr txBox="1"/>
          <p:nvPr/>
        </p:nvSpPr>
        <p:spPr>
          <a:xfrm>
            <a:off x="4296429" y="1971261"/>
            <a:ext cx="180330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b="1" dirty="0" err="1">
                <a:latin typeface="+mj-lt"/>
              </a:rPr>
              <a:t>Learning</a:t>
            </a:r>
            <a:r>
              <a:rPr lang="ko-KR" altLang="en-US" b="1" dirty="0">
                <a:latin typeface="+mj-lt"/>
              </a:rPr>
              <a:t> </a:t>
            </a:r>
            <a:r>
              <a:rPr lang="ko-KR" altLang="en-US" b="1" dirty="0" err="1">
                <a:latin typeface="+mj-lt"/>
              </a:rPr>
              <a:t>Code</a:t>
            </a:r>
            <a:endParaRPr lang="ko-KR" altLang="en-US" b="1" dirty="0"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0C8997-D4BE-90AD-99E3-8C5504CE4FB1}"/>
              </a:ext>
            </a:extLst>
          </p:cNvPr>
          <p:cNvSpPr txBox="1"/>
          <p:nvPr/>
        </p:nvSpPr>
        <p:spPr>
          <a:xfrm>
            <a:off x="9214062" y="1971262"/>
            <a:ext cx="117228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b="1" dirty="0" err="1">
                <a:latin typeface="+mj-lt"/>
              </a:rPr>
              <a:t>MLOps</a:t>
            </a:r>
            <a:endParaRPr lang="ko-KR" altLang="en-US" b="1" dirty="0"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C4E143-BDE6-1D0D-DEF8-3C7E43F2697A}"/>
              </a:ext>
            </a:extLst>
          </p:cNvPr>
          <p:cNvSpPr txBox="1"/>
          <p:nvPr/>
        </p:nvSpPr>
        <p:spPr>
          <a:xfrm>
            <a:off x="8138154" y="5409687"/>
            <a:ext cx="188291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200" cap="all" dirty="0">
                <a:latin typeface="Univers Condensed"/>
              </a:rPr>
              <a:t>Versioning &amp; Storge</a:t>
            </a:r>
          </a:p>
        </p:txBody>
      </p:sp>
      <p:sp>
        <p:nvSpPr>
          <p:cNvPr id="21" name="액자 20">
            <a:extLst>
              <a:ext uri="{FF2B5EF4-FFF2-40B4-BE49-F238E27FC236}">
                <a16:creationId xmlns:a16="http://schemas.microsoft.com/office/drawing/2014/main" id="{4C7DC2F4-E1E4-070F-622E-3CDC61F3E2E8}"/>
              </a:ext>
            </a:extLst>
          </p:cNvPr>
          <p:cNvSpPr/>
          <p:nvPr/>
        </p:nvSpPr>
        <p:spPr>
          <a:xfrm>
            <a:off x="2824173" y="2385391"/>
            <a:ext cx="33130" cy="3434521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" name="액자 21">
            <a:extLst>
              <a:ext uri="{FF2B5EF4-FFF2-40B4-BE49-F238E27FC236}">
                <a16:creationId xmlns:a16="http://schemas.microsoft.com/office/drawing/2014/main" id="{D144841E-FD35-0882-1DFE-9A92FAA4CCC7}"/>
              </a:ext>
            </a:extLst>
          </p:cNvPr>
          <p:cNvSpPr/>
          <p:nvPr/>
        </p:nvSpPr>
        <p:spPr>
          <a:xfrm>
            <a:off x="8043454" y="2385391"/>
            <a:ext cx="33130" cy="3434521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3" name="액자 22">
            <a:extLst>
              <a:ext uri="{FF2B5EF4-FFF2-40B4-BE49-F238E27FC236}">
                <a16:creationId xmlns:a16="http://schemas.microsoft.com/office/drawing/2014/main" id="{8A6FA1FD-9869-319F-8C6F-0AD0D2D82E17}"/>
              </a:ext>
            </a:extLst>
          </p:cNvPr>
          <p:cNvSpPr/>
          <p:nvPr/>
        </p:nvSpPr>
        <p:spPr>
          <a:xfrm rot="5400000">
            <a:off x="10021486" y="2175565"/>
            <a:ext cx="33130" cy="3434521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D89B15-B83F-669E-709B-F2F0A5118F05}"/>
              </a:ext>
            </a:extLst>
          </p:cNvPr>
          <p:cNvSpPr txBox="1"/>
          <p:nvPr/>
        </p:nvSpPr>
        <p:spPr>
          <a:xfrm>
            <a:off x="3232782" y="2965174"/>
            <a:ext cx="216452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 err="1">
                <a:latin typeface="+mj-lt"/>
              </a:rPr>
              <a:t>Diffusion-Planner</a:t>
            </a:r>
            <a:endParaRPr lang="ko-KR" altLang="en-US" dirty="0"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B3A922F-655E-2338-0030-3891E928927B}"/>
              </a:ext>
            </a:extLst>
          </p:cNvPr>
          <p:cNvSpPr txBox="1"/>
          <p:nvPr/>
        </p:nvSpPr>
        <p:spPr>
          <a:xfrm>
            <a:off x="3370825" y="4356652"/>
            <a:ext cx="171173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 err="1">
                <a:latin typeface="+mj-lt"/>
              </a:rPr>
              <a:t>DiffusionDrive</a:t>
            </a:r>
          </a:p>
        </p:txBody>
      </p: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1CE64959-5A78-C6FD-CF6B-D900A574D78B}"/>
              </a:ext>
            </a:extLst>
          </p:cNvPr>
          <p:cNvSpPr/>
          <p:nvPr/>
        </p:nvSpPr>
        <p:spPr>
          <a:xfrm>
            <a:off x="2597782" y="3064565"/>
            <a:ext cx="519043" cy="17117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FEF05763-BD42-3AA4-BB21-1672EF13A9BD}"/>
              </a:ext>
            </a:extLst>
          </p:cNvPr>
          <p:cNvSpPr/>
          <p:nvPr/>
        </p:nvSpPr>
        <p:spPr>
          <a:xfrm>
            <a:off x="2597781" y="4456043"/>
            <a:ext cx="519043" cy="171173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7D5F3DDB-CE4B-37D3-53E9-FA4D9FC10494}"/>
              </a:ext>
            </a:extLst>
          </p:cNvPr>
          <p:cNvSpPr/>
          <p:nvPr/>
        </p:nvSpPr>
        <p:spPr>
          <a:xfrm>
            <a:off x="5735368" y="2556565"/>
            <a:ext cx="2013226" cy="280283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DAB6DDD-827E-5FCB-4598-0A4D3924359A}"/>
              </a:ext>
            </a:extLst>
          </p:cNvPr>
          <p:cNvSpPr/>
          <p:nvPr/>
        </p:nvSpPr>
        <p:spPr>
          <a:xfrm>
            <a:off x="5856845" y="3075608"/>
            <a:ext cx="1772477" cy="3754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Preprocessed</a:t>
            </a:r>
            <a:r>
              <a:rPr 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 </a:t>
            </a:r>
            <a:r>
              <a:rPr lang="ko-KR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images</a:t>
            </a:r>
            <a:endParaRPr lang="ko-KR" sz="14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3542CED-C2CB-F1E5-7DC5-559543172299}"/>
              </a:ext>
            </a:extLst>
          </p:cNvPr>
          <p:cNvSpPr/>
          <p:nvPr/>
        </p:nvSpPr>
        <p:spPr>
          <a:xfrm>
            <a:off x="6188150" y="3589131"/>
            <a:ext cx="1071217" cy="36995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.pt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AE2DF03-3573-3A6E-CC62-0F462D460A71}"/>
              </a:ext>
            </a:extLst>
          </p:cNvPr>
          <p:cNvSpPr/>
          <p:nvPr/>
        </p:nvSpPr>
        <p:spPr>
          <a:xfrm>
            <a:off x="6061149" y="4102650"/>
            <a:ext cx="1330740" cy="3754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Check points</a:t>
            </a:r>
            <a:endParaRPr lang="ko-KR" sz="14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7EE1AB0-0B9D-AE70-F327-FD7F4FBB5208}"/>
              </a:ext>
            </a:extLst>
          </p:cNvPr>
          <p:cNvSpPr/>
          <p:nvPr/>
        </p:nvSpPr>
        <p:spPr>
          <a:xfrm>
            <a:off x="6028019" y="4616173"/>
            <a:ext cx="1391477" cy="3754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Git Version</a:t>
            </a:r>
          </a:p>
        </p:txBody>
      </p:sp>
      <p:pic>
        <p:nvPicPr>
          <p:cNvPr id="36" name="그림 35" descr="그래픽, 그래픽 디자인, 폰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64B5DD-4361-55D9-3C35-4270723D59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0691" y="4705933"/>
            <a:ext cx="829366" cy="618849"/>
          </a:xfrm>
          <a:prstGeom prst="rect">
            <a:avLst/>
          </a:prstGeom>
        </p:spPr>
      </p:pic>
      <p:sp>
        <p:nvSpPr>
          <p:cNvPr id="37" name="화살표: 오른쪽 36">
            <a:extLst>
              <a:ext uri="{FF2B5EF4-FFF2-40B4-BE49-F238E27FC236}">
                <a16:creationId xmlns:a16="http://schemas.microsoft.com/office/drawing/2014/main" id="{E3F2F041-ADB1-23E7-9311-D1544E0B68B8}"/>
              </a:ext>
            </a:extLst>
          </p:cNvPr>
          <p:cNvSpPr/>
          <p:nvPr/>
        </p:nvSpPr>
        <p:spPr>
          <a:xfrm>
            <a:off x="5012019" y="3572565"/>
            <a:ext cx="607391" cy="612911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8" name="그림 37" descr="다채로움, 라인, 패턴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BCF9F8C-1718-3741-67D2-D9B67FFCAE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1308" y="2681001"/>
            <a:ext cx="670975" cy="665247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9E6EF084-F35D-9A7F-3CF6-61EA8BD5BC15}"/>
              </a:ext>
            </a:extLst>
          </p:cNvPr>
          <p:cNvSpPr txBox="1"/>
          <p:nvPr/>
        </p:nvSpPr>
        <p:spPr>
          <a:xfrm>
            <a:off x="8103777" y="3438800"/>
            <a:ext cx="188291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200" cap="all" dirty="0">
                <a:latin typeface="Univers Condensed"/>
              </a:rPr>
              <a:t>Visualize &amp; Distribute</a:t>
            </a:r>
          </a:p>
        </p:txBody>
      </p:sp>
      <p:pic>
        <p:nvPicPr>
          <p:cNvPr id="41" name="그림 40" descr="다채로움, 라인, 직사각형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7110190-7F11-F580-AB18-E2EC7856AB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83387" y="4096840"/>
            <a:ext cx="579807" cy="551160"/>
          </a:xfrm>
          <a:prstGeom prst="rect">
            <a:avLst/>
          </a:prstGeom>
        </p:spPr>
      </p:pic>
      <p:pic>
        <p:nvPicPr>
          <p:cNvPr id="42" name="그림 41" descr="고양이, 포유류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AA78DE9-F3C9-578E-CF9E-EF9033EE03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88681" y="4908132"/>
            <a:ext cx="587392" cy="578662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8A30B1FD-CB82-57C1-1FEC-DD313BEB4948}"/>
              </a:ext>
            </a:extLst>
          </p:cNvPr>
          <p:cNvSpPr txBox="1"/>
          <p:nvPr/>
        </p:nvSpPr>
        <p:spPr>
          <a:xfrm>
            <a:off x="10362418" y="5536679"/>
            <a:ext cx="188291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200" cap="all" dirty="0">
                <a:latin typeface="Univers Condensed"/>
              </a:rPr>
              <a:t>Git : Code storge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A226FC8-62A1-198C-5AF6-802E9D7C4082}"/>
              </a:ext>
            </a:extLst>
          </p:cNvPr>
          <p:cNvSpPr txBox="1"/>
          <p:nvPr/>
        </p:nvSpPr>
        <p:spPr>
          <a:xfrm>
            <a:off x="10362418" y="4654791"/>
            <a:ext cx="188291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200" cap="all" dirty="0">
                <a:latin typeface="Univers Condensed"/>
              </a:rPr>
              <a:t>Drive : Data storge</a:t>
            </a:r>
            <a:endParaRPr lang="ko-KR" altLang="en-US" dirty="0"/>
          </a:p>
        </p:txBody>
      </p:sp>
      <p:sp>
        <p:nvSpPr>
          <p:cNvPr id="48" name="화살표: 왼쪽/오른쪽 47">
            <a:extLst>
              <a:ext uri="{FF2B5EF4-FFF2-40B4-BE49-F238E27FC236}">
                <a16:creationId xmlns:a16="http://schemas.microsoft.com/office/drawing/2014/main" id="{456EA9A2-62B3-F0D0-31DD-036E746575E3}"/>
              </a:ext>
            </a:extLst>
          </p:cNvPr>
          <p:cNvSpPr/>
          <p:nvPr/>
        </p:nvSpPr>
        <p:spPr>
          <a:xfrm flipV="1">
            <a:off x="9667587" y="5043161"/>
            <a:ext cx="567202" cy="309384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C02FEFC-AD95-2017-14FC-089B224D201B}"/>
              </a:ext>
            </a:extLst>
          </p:cNvPr>
          <p:cNvSpPr txBox="1"/>
          <p:nvPr/>
        </p:nvSpPr>
        <p:spPr>
          <a:xfrm>
            <a:off x="9455900" y="4796651"/>
            <a:ext cx="101205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200" cap="all" dirty="0">
                <a:latin typeface="Univers Condensed"/>
              </a:rPr>
              <a:t>Tag &amp; Save</a:t>
            </a:r>
          </a:p>
        </p:txBody>
      </p:sp>
    </p:spTree>
    <p:extLst>
      <p:ext uri="{BB962C8B-B14F-4D97-AF65-F5344CB8AC3E}">
        <p14:creationId xmlns:p14="http://schemas.microsoft.com/office/powerpoint/2010/main" val="3708594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69E06-4FEF-A0D1-791E-BE4FF2397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81F677CA-11F3-2D82-EB92-DC6FA0E7F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0647861" cy="792346"/>
          </a:xfrm>
        </p:spPr>
        <p:txBody>
          <a:bodyPr>
            <a:normAutofit/>
          </a:bodyPr>
          <a:lstStyle/>
          <a:p>
            <a:r>
              <a:rPr lang="en-US" altLang="ko-KR" sz="2200" dirty="0" err="1"/>
              <a:t>Dvc</a:t>
            </a:r>
            <a:r>
              <a:rPr lang="en-US" altLang="ko-KR" sz="2200" dirty="0"/>
              <a:t> &amp; </a:t>
            </a:r>
            <a:r>
              <a:rPr lang="en-US" altLang="ko-KR" sz="2200" dirty="0" err="1"/>
              <a:t>DataBricks</a:t>
            </a:r>
            <a:endParaRPr lang="ko-KR" dirty="0" err="1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67B03360-A760-1F2E-8DE9-971932E9EE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733" y="1832003"/>
            <a:ext cx="10740959" cy="4246718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 err="1">
                <a:latin typeface="+mj-lt"/>
              </a:rPr>
              <a:t>MLflow</a:t>
            </a:r>
            <a:r>
              <a:rPr lang="en-US" b="1" dirty="0">
                <a:latin typeface="+mj-lt"/>
              </a:rPr>
              <a:t> (Databricks)</a:t>
            </a:r>
            <a:endParaRPr lang="ko-KR" altLang="en-US" dirty="0">
              <a:latin typeface="+mj-lt"/>
            </a:endParaRPr>
          </a:p>
          <a:p>
            <a:r>
              <a:rPr lang="en-US" dirty="0">
                <a:latin typeface="+mj-lt"/>
                <a:ea typeface="+mn-lt"/>
                <a:cs typeface="+mn-lt"/>
              </a:rPr>
              <a:t>Used for experiment tracking and result visualization.</a:t>
            </a:r>
            <a:endParaRPr lang="ko-KR" dirty="0">
              <a:latin typeface="+mj-lt"/>
            </a:endParaRPr>
          </a:p>
          <a:p>
            <a:r>
              <a:rPr lang="en-US" dirty="0">
                <a:latin typeface="+mj-lt"/>
                <a:ea typeface="+mn-lt"/>
                <a:cs typeface="+mn-lt"/>
              </a:rPr>
              <a:t>Manages metrics, models, and training logs in a centralized platform.</a:t>
            </a:r>
          </a:p>
          <a:p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b="1" dirty="0">
                <a:latin typeface="+mj-lt"/>
              </a:rPr>
              <a:t>DVC (Data Version Control)</a:t>
            </a:r>
            <a:endParaRPr lang="en-US" dirty="0">
              <a:latin typeface="+mj-lt"/>
            </a:endParaRPr>
          </a:p>
          <a:p>
            <a:r>
              <a:rPr lang="en-US" dirty="0">
                <a:latin typeface="+mj-lt"/>
                <a:ea typeface="+mn-lt"/>
                <a:cs typeface="+mn-lt"/>
              </a:rPr>
              <a:t>Integrated with GitHub for version control of both code and data.</a:t>
            </a:r>
            <a:endParaRPr lang="en-US" dirty="0">
              <a:latin typeface="+mj-lt"/>
            </a:endParaRPr>
          </a:p>
          <a:p>
            <a:r>
              <a:rPr lang="en-US" dirty="0">
                <a:latin typeface="+mj-lt"/>
                <a:ea typeface="+mn-lt"/>
                <a:cs typeface="+mn-lt"/>
              </a:rPr>
              <a:t>Tracks and versions:</a:t>
            </a:r>
            <a:endParaRPr lang="en-US" dirty="0">
              <a:latin typeface="+mj-lt"/>
            </a:endParaRPr>
          </a:p>
          <a:p>
            <a:pPr lvl="1"/>
            <a:r>
              <a:rPr lang="en-US" dirty="0">
                <a:latin typeface="+mj-lt"/>
                <a:ea typeface="+mn-lt"/>
                <a:cs typeface="+mn-lt"/>
              </a:rPr>
              <a:t>Preprocessed images</a:t>
            </a:r>
            <a:endParaRPr lang="en-US" dirty="0">
              <a:latin typeface="+mj-lt"/>
            </a:endParaRPr>
          </a:p>
          <a:p>
            <a:pPr lvl="1"/>
            <a:r>
              <a:rPr lang="en-US" dirty="0">
                <a:latin typeface="+mj-lt"/>
                <a:ea typeface="+mn-lt"/>
                <a:cs typeface="+mn-lt"/>
              </a:rPr>
              <a:t>Training datasets</a:t>
            </a:r>
            <a:endParaRPr lang="en-US" dirty="0">
              <a:latin typeface="+mj-lt"/>
            </a:endParaRPr>
          </a:p>
          <a:p>
            <a:pPr lvl="1"/>
            <a:r>
              <a:rPr lang="en-US" dirty="0">
                <a:latin typeface="+mj-lt"/>
                <a:ea typeface="+mn-lt"/>
                <a:cs typeface="+mn-lt"/>
              </a:rPr>
              <a:t>Model checkpoints</a:t>
            </a:r>
            <a:endParaRPr lang="en-US" dirty="0">
              <a:latin typeface="+mj-lt"/>
            </a:endParaRPr>
          </a:p>
          <a:p>
            <a:pPr lvl="1"/>
            <a:r>
              <a:rPr lang="en-US" dirty="0">
                <a:latin typeface="+mj-lt"/>
                <a:ea typeface="+mn-lt"/>
                <a:cs typeface="+mn-lt"/>
              </a:rPr>
              <a:t>Experimental results</a:t>
            </a:r>
          </a:p>
          <a:p>
            <a:pPr lvl="1"/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b="1" dirty="0">
                <a:latin typeface="+mj-lt"/>
                <a:ea typeface="+mn-lt"/>
                <a:cs typeface="+mn-lt"/>
              </a:rPr>
              <a:t>Objective</a:t>
            </a:r>
          </a:p>
          <a:p>
            <a:r>
              <a:rPr lang="en-US" dirty="0">
                <a:latin typeface="+mj-lt"/>
                <a:ea typeface="+mn-lt"/>
                <a:cs typeface="+mn-lt"/>
              </a:rPr>
              <a:t>To build a portfolio that enables full reproduction </a:t>
            </a:r>
            <a:r>
              <a:rPr lang="en-US" altLang="ko-KR" dirty="0">
                <a:latin typeface="+mj-lt"/>
                <a:ea typeface="+mn-lt"/>
                <a:cs typeface="+mn-lt"/>
              </a:rPr>
              <a:t>of</a:t>
            </a:r>
            <a:r>
              <a:rPr lang="en-US" dirty="0">
                <a:latin typeface="+mj-lt"/>
                <a:ea typeface="+mn-lt"/>
                <a:cs typeface="+mn-lt"/>
              </a:rPr>
              <a:t> experiments</a:t>
            </a:r>
            <a:r>
              <a:rPr lang="en-US" altLang="ko-KR" dirty="0">
                <a:latin typeface="+mj-lt"/>
                <a:ea typeface="+mn-lt"/>
                <a:cs typeface="+mn-lt"/>
              </a:rPr>
              <a:t>.</a:t>
            </a:r>
            <a:endParaRPr lang="en-US" dirty="0">
              <a:latin typeface="+mj-lt"/>
            </a:endParaRPr>
          </a:p>
          <a:p>
            <a:r>
              <a:rPr lang="en-US" altLang="ko-KR" dirty="0">
                <a:latin typeface="+mj-lt"/>
                <a:ea typeface="+mn-lt"/>
                <a:cs typeface="+mn-lt"/>
              </a:rPr>
              <a:t>All experimental settings, code, and results can be </a:t>
            </a:r>
            <a:r>
              <a:rPr lang="en-US" dirty="0">
                <a:latin typeface="+mj-lt"/>
                <a:ea typeface="+mn-lt"/>
                <a:cs typeface="+mn-lt"/>
              </a:rPr>
              <a:t>understood and verified from the portfolio alone.</a:t>
            </a:r>
            <a:endParaRPr lang="ko-KR" dirty="0">
              <a:latin typeface="+mj-lt"/>
            </a:endParaRPr>
          </a:p>
          <a:p>
            <a:endParaRPr lang="en-US" altLang="ko-KR" b="1" dirty="0">
              <a:latin typeface="+mj-lt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F210D06-11E0-CE76-2BAA-AFC22A871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B70C5A-0AFC-FB9B-C196-DA46E2C97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/>
          <a:lstStyle/>
          <a:p>
            <a:r>
              <a:rPr lang="en-US" dirty="0"/>
              <a:t>11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992F5FC-2A3A-1D6F-9593-38A40BB5784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ko-KR" altLang="en-US" dirty="0" err="1">
                <a:latin typeface="+mj-lt"/>
              </a:rPr>
              <a:t>Research</a:t>
            </a:r>
            <a:r>
              <a:rPr lang="ko-KR" altLang="en-US" dirty="0">
                <a:latin typeface="+mj-lt"/>
              </a:rPr>
              <a:t> </a:t>
            </a:r>
            <a:r>
              <a:rPr lang="ko-KR" altLang="en-US" dirty="0" err="1">
                <a:latin typeface="+mj-lt"/>
              </a:rPr>
              <a:t>Goal</a:t>
            </a:r>
            <a:r>
              <a:rPr lang="ko-KR" altLang="en-US" dirty="0">
                <a:latin typeface="+mj-lt"/>
              </a:rPr>
              <a:t> &amp; </a:t>
            </a:r>
            <a:r>
              <a:rPr lang="ko-KR" altLang="en-US" dirty="0" err="1">
                <a:latin typeface="+mj-lt"/>
              </a:rPr>
              <a:t>Workflow</a:t>
            </a:r>
          </a:p>
        </p:txBody>
      </p:sp>
    </p:spTree>
    <p:extLst>
      <p:ext uri="{BB962C8B-B14F-4D97-AF65-F5344CB8AC3E}">
        <p14:creationId xmlns:p14="http://schemas.microsoft.com/office/powerpoint/2010/main" val="3293172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066A2-2702-49D5-3469-BBF861BC0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55D4925B-AA38-1998-AD66-17E024497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0647861" cy="792346"/>
          </a:xfrm>
        </p:spPr>
        <p:txBody>
          <a:bodyPr>
            <a:normAutofit/>
          </a:bodyPr>
          <a:lstStyle/>
          <a:p>
            <a:r>
              <a:rPr lang="en-US" altLang="ko-KR" sz="2200" dirty="0"/>
              <a:t>Research Goal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755AC098-71A7-3CC7-7B6C-577E1E04C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5733" y="1832003"/>
            <a:ext cx="10740959" cy="4246718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ko-KR" sz="2500" b="1" dirty="0" err="1">
                <a:latin typeface="+mj-lt"/>
              </a:rPr>
              <a:t>Research</a:t>
            </a:r>
            <a:r>
              <a:rPr lang="ko-KR" sz="2500" b="1" dirty="0">
                <a:latin typeface="+mj-lt"/>
              </a:rPr>
              <a:t> </a:t>
            </a:r>
            <a:r>
              <a:rPr lang="ko-KR" sz="2500" b="1" dirty="0" err="1">
                <a:latin typeface="+mj-lt"/>
              </a:rPr>
              <a:t>Contribution</a:t>
            </a:r>
            <a:r>
              <a:rPr lang="ko-KR" sz="2500" b="1" dirty="0">
                <a:latin typeface="+mj-lt"/>
              </a:rPr>
              <a:t> </a:t>
            </a:r>
            <a:r>
              <a:rPr lang="ko-KR" sz="2500" b="1" dirty="0" err="1">
                <a:latin typeface="+mj-lt"/>
              </a:rPr>
              <a:t>Levels</a:t>
            </a:r>
            <a:endParaRPr lang="en-US" altLang="ko-KR" b="1" dirty="0">
              <a:latin typeface="+mj-lt"/>
            </a:endParaRPr>
          </a:p>
          <a:p>
            <a:pPr marL="457200" lvl="1" indent="0">
              <a:buNone/>
            </a:pPr>
            <a:r>
              <a:rPr lang="ko-KR" b="1" dirty="0" err="1">
                <a:latin typeface="+mj-lt"/>
                <a:ea typeface="+mn-lt"/>
                <a:cs typeface="+mn-lt"/>
              </a:rPr>
              <a:t>Major</a:t>
            </a:r>
            <a:r>
              <a:rPr lang="ko-KR" b="1" dirty="0">
                <a:latin typeface="+mj-lt"/>
                <a:ea typeface="+mn-lt"/>
                <a:cs typeface="+mn-lt"/>
              </a:rPr>
              <a:t> </a:t>
            </a:r>
            <a:r>
              <a:rPr lang="ko-KR" b="1" dirty="0" err="1">
                <a:latin typeface="+mj-lt"/>
                <a:ea typeface="+mn-lt"/>
                <a:cs typeface="+mn-lt"/>
              </a:rPr>
              <a:t>Contribution</a:t>
            </a:r>
            <a:endParaRPr lang="en-US" altLang="ko-KR" b="1" dirty="0">
              <a:latin typeface="+mj-lt"/>
              <a:ea typeface="+mn-lt"/>
              <a:cs typeface="+mn-lt"/>
            </a:endParaRPr>
          </a:p>
          <a:p>
            <a:pPr lvl="1"/>
            <a:r>
              <a:rPr lang="ko-KR" dirty="0" err="1">
                <a:latin typeface="+mj-lt"/>
                <a:ea typeface="+mn-lt"/>
                <a:cs typeface="+mn-lt"/>
              </a:rPr>
              <a:t>Reinforcement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learning</a:t>
            </a:r>
            <a:r>
              <a:rPr lang="ko-KR" dirty="0">
                <a:latin typeface="+mj-lt"/>
                <a:ea typeface="+mn-lt"/>
                <a:cs typeface="+mn-lt"/>
              </a:rPr>
              <a:t>–</a:t>
            </a:r>
            <a:r>
              <a:rPr lang="ko-KR" dirty="0" err="1">
                <a:latin typeface="+mj-lt"/>
                <a:ea typeface="+mn-lt"/>
                <a:cs typeface="+mn-lt"/>
              </a:rPr>
              <a:t>based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fine-tuning</a:t>
            </a:r>
            <a:endParaRPr lang="en-US" altLang="ko-KR" dirty="0">
              <a:latin typeface="+mj-lt"/>
              <a:ea typeface="+mn-lt"/>
              <a:cs typeface="+mn-lt"/>
            </a:endParaRPr>
          </a:p>
          <a:p>
            <a:pPr lvl="1"/>
            <a:r>
              <a:rPr lang="ko-KR" dirty="0" err="1">
                <a:latin typeface="+mj-lt"/>
                <a:ea typeface="+mn-lt"/>
                <a:cs typeface="+mn-lt"/>
              </a:rPr>
              <a:t>Modification</a:t>
            </a:r>
            <a:r>
              <a:rPr lang="ko-KR" dirty="0">
                <a:latin typeface="+mj-lt"/>
                <a:ea typeface="+mn-lt"/>
                <a:cs typeface="+mn-lt"/>
              </a:rPr>
              <a:t> of </a:t>
            </a:r>
            <a:r>
              <a:rPr lang="ko-KR" dirty="0" err="1">
                <a:latin typeface="+mj-lt"/>
                <a:ea typeface="+mn-lt"/>
                <a:cs typeface="+mn-lt"/>
              </a:rPr>
              <a:t>core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algorithms</a:t>
            </a:r>
            <a:endParaRPr lang="en-US" altLang="ko-KR" dirty="0">
              <a:latin typeface="+mj-lt"/>
            </a:endParaRPr>
          </a:p>
          <a:p>
            <a:pPr marL="457200" lvl="1" indent="0">
              <a:buNone/>
            </a:pPr>
            <a:r>
              <a:rPr lang="ko-KR" b="1" dirty="0">
                <a:latin typeface="+mj-lt"/>
                <a:ea typeface="+mn-lt"/>
                <a:cs typeface="+mn-lt"/>
              </a:rPr>
              <a:t>Minor </a:t>
            </a:r>
            <a:r>
              <a:rPr lang="ko-KR" b="1" dirty="0" err="1">
                <a:latin typeface="+mj-lt"/>
                <a:ea typeface="+mn-lt"/>
                <a:cs typeface="+mn-lt"/>
              </a:rPr>
              <a:t>Contribution</a:t>
            </a:r>
            <a:endParaRPr lang="en-US" altLang="ko-KR" b="1" dirty="0">
              <a:latin typeface="+mj-lt"/>
            </a:endParaRPr>
          </a:p>
          <a:p>
            <a:pPr lvl="1"/>
            <a:r>
              <a:rPr lang="ko-KR" dirty="0">
                <a:latin typeface="+mj-lt"/>
                <a:ea typeface="+mn-lt"/>
                <a:cs typeface="+mn-lt"/>
              </a:rPr>
              <a:t>Network </a:t>
            </a:r>
            <a:r>
              <a:rPr lang="ko-KR" dirty="0" err="1">
                <a:latin typeface="+mj-lt"/>
                <a:ea typeface="+mn-lt"/>
                <a:cs typeface="+mn-lt"/>
              </a:rPr>
              <a:t>architecture</a:t>
            </a:r>
            <a:r>
              <a:rPr lang="ko-KR" dirty="0">
                <a:latin typeface="+mj-lt"/>
                <a:ea typeface="+mn-lt"/>
                <a:cs typeface="+mn-lt"/>
              </a:rPr>
              <a:t> and </a:t>
            </a:r>
            <a:r>
              <a:rPr lang="ko-KR" dirty="0" err="1">
                <a:latin typeface="+mj-lt"/>
                <a:ea typeface="+mn-lt"/>
                <a:cs typeface="+mn-lt"/>
              </a:rPr>
              <a:t>parameter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tuning</a:t>
            </a:r>
            <a:endParaRPr lang="en-US" altLang="ko-KR" dirty="0">
              <a:latin typeface="+mj-lt"/>
            </a:endParaRPr>
          </a:p>
          <a:p>
            <a:pPr lvl="1"/>
            <a:r>
              <a:rPr lang="ko-KR" dirty="0">
                <a:latin typeface="+mj-lt"/>
                <a:ea typeface="+mn-lt"/>
                <a:cs typeface="+mn-lt"/>
              </a:rPr>
              <a:t>Engineering-</a:t>
            </a:r>
            <a:r>
              <a:rPr lang="ko-KR" dirty="0" err="1">
                <a:latin typeface="+mj-lt"/>
                <a:ea typeface="+mn-lt"/>
                <a:cs typeface="+mn-lt"/>
              </a:rPr>
              <a:t>oriented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optimizatio</a:t>
            </a:r>
            <a:endParaRPr lang="en-US" altLang="ko-KR" b="1" dirty="0">
              <a:latin typeface="+mj-lt"/>
            </a:endParaRPr>
          </a:p>
          <a:p>
            <a:pPr marL="457200" lvl="1" indent="0">
              <a:buNone/>
            </a:pPr>
            <a:r>
              <a:rPr lang="ko-KR" b="1" dirty="0" err="1">
                <a:latin typeface="+mj-lt"/>
              </a:rPr>
              <a:t>Current</a:t>
            </a:r>
            <a:r>
              <a:rPr lang="ko-KR" b="1" dirty="0">
                <a:latin typeface="+mj-lt"/>
              </a:rPr>
              <a:t> </a:t>
            </a:r>
            <a:r>
              <a:rPr lang="ko-KR" b="1" dirty="0" err="1">
                <a:latin typeface="+mj-lt"/>
              </a:rPr>
              <a:t>Research</a:t>
            </a:r>
            <a:r>
              <a:rPr lang="ko-KR" b="1" dirty="0">
                <a:latin typeface="+mj-lt"/>
              </a:rPr>
              <a:t> </a:t>
            </a:r>
            <a:r>
              <a:rPr lang="ko-KR" b="1" dirty="0" err="1">
                <a:latin typeface="+mj-lt"/>
              </a:rPr>
              <a:t>Direction</a:t>
            </a:r>
            <a:endParaRPr lang="en-US" altLang="ko-KR" b="1" dirty="0">
              <a:latin typeface="+mj-lt"/>
            </a:endParaRPr>
          </a:p>
          <a:p>
            <a:pPr marL="914400" lvl="2" indent="0">
              <a:buNone/>
            </a:pPr>
            <a:r>
              <a:rPr lang="ko-KR" dirty="0" err="1">
                <a:latin typeface="+mj-lt"/>
                <a:ea typeface="+mn-lt"/>
                <a:cs typeface="+mn-lt"/>
              </a:rPr>
              <a:t>Focus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on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methods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from</a:t>
            </a:r>
            <a:r>
              <a:rPr lang="ko-KR" dirty="0">
                <a:latin typeface="+mj-lt"/>
                <a:ea typeface="+mn-lt"/>
                <a:cs typeface="+mn-lt"/>
              </a:rPr>
              <a:t>:</a:t>
            </a:r>
            <a:endParaRPr lang="en-US" altLang="ko-KR" dirty="0">
              <a:latin typeface="+mj-lt"/>
              <a:ea typeface="+mn-lt"/>
              <a:cs typeface="+mn-lt"/>
            </a:endParaRPr>
          </a:p>
          <a:p>
            <a:pPr lvl="2"/>
            <a:r>
              <a:rPr lang="ko-KR" dirty="0">
                <a:latin typeface="+mj-lt"/>
                <a:ea typeface="+mn-lt"/>
                <a:cs typeface="+mn-lt"/>
              </a:rPr>
              <a:t>Computer </a:t>
            </a:r>
            <a:r>
              <a:rPr lang="ko-KR" dirty="0" err="1">
                <a:latin typeface="+mj-lt"/>
                <a:ea typeface="+mn-lt"/>
                <a:cs typeface="+mn-lt"/>
              </a:rPr>
              <a:t>Vision</a:t>
            </a:r>
            <a:endParaRPr lang="en-US" altLang="ko-KR" dirty="0">
              <a:latin typeface="+mj-lt"/>
            </a:endParaRPr>
          </a:p>
          <a:p>
            <a:pPr lvl="2"/>
            <a:r>
              <a:rPr lang="ko-KR" dirty="0" err="1">
                <a:latin typeface="+mj-lt"/>
                <a:ea typeface="+mn-lt"/>
                <a:cs typeface="+mn-lt"/>
              </a:rPr>
              <a:t>Large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Language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Models</a:t>
            </a:r>
            <a:r>
              <a:rPr lang="ko-KR" dirty="0">
                <a:latin typeface="+mj-lt"/>
                <a:ea typeface="+mn-lt"/>
                <a:cs typeface="+mn-lt"/>
              </a:rPr>
              <a:t> (</a:t>
            </a:r>
            <a:r>
              <a:rPr lang="ko-KR" dirty="0" err="1">
                <a:latin typeface="+mj-lt"/>
                <a:ea typeface="+mn-lt"/>
                <a:cs typeface="+mn-lt"/>
              </a:rPr>
              <a:t>LLMs</a:t>
            </a:r>
            <a:r>
              <a:rPr lang="ko-KR" dirty="0">
                <a:latin typeface="+mj-lt"/>
                <a:ea typeface="+mn-lt"/>
                <a:cs typeface="+mn-lt"/>
              </a:rPr>
              <a:t>)</a:t>
            </a:r>
            <a:endParaRPr lang="en-US" altLang="ko-KR" dirty="0">
              <a:latin typeface="+mj-lt"/>
            </a:endParaRPr>
          </a:p>
          <a:p>
            <a:pPr marL="914400" lvl="2" indent="0">
              <a:buNone/>
            </a:pPr>
            <a:r>
              <a:rPr lang="ko-KR" dirty="0" err="1">
                <a:latin typeface="+mj-lt"/>
                <a:ea typeface="+mn-lt"/>
                <a:cs typeface="+mn-lt"/>
              </a:rPr>
              <a:t>Rather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than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directly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targeting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autonomous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driving</a:t>
            </a:r>
            <a:r>
              <a:rPr lang="ko-KR" dirty="0">
                <a:latin typeface="+mj-lt"/>
                <a:ea typeface="+mn-lt"/>
                <a:cs typeface="+mn-lt"/>
              </a:rPr>
              <a:t>–</a:t>
            </a:r>
            <a:r>
              <a:rPr lang="ko-KR" dirty="0" err="1">
                <a:latin typeface="+mj-lt"/>
                <a:ea typeface="+mn-lt"/>
                <a:cs typeface="+mn-lt"/>
              </a:rPr>
              <a:t>specific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approaches</a:t>
            </a:r>
            <a:endParaRPr lang="en-US" altLang="ko-KR" b="1" dirty="0">
              <a:latin typeface="+mj-lt"/>
            </a:endParaRPr>
          </a:p>
          <a:p>
            <a:pPr marL="457200" lvl="1" indent="0">
              <a:buNone/>
            </a:pPr>
            <a:r>
              <a:rPr lang="ko-KR" b="1" dirty="0" err="1">
                <a:latin typeface="+mj-lt"/>
              </a:rPr>
              <a:t>Goal</a:t>
            </a:r>
            <a:endParaRPr lang="en-US" altLang="ko-KR" b="1" dirty="0">
              <a:latin typeface="+mj-lt"/>
            </a:endParaRPr>
          </a:p>
          <a:p>
            <a:pPr marL="457200" lvl="1" indent="0">
              <a:buNone/>
            </a:pPr>
            <a:r>
              <a:rPr lang="ko-KR" dirty="0" err="1">
                <a:latin typeface="+mj-lt"/>
                <a:ea typeface="+mn-lt"/>
                <a:cs typeface="+mn-lt"/>
              </a:rPr>
              <a:t>To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surpass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the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benchmark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scores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reported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in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each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reference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paper</a:t>
            </a:r>
            <a:endParaRPr lang="en-US" altLang="ko-KR" dirty="0">
              <a:latin typeface="+mj-lt"/>
              <a:ea typeface="+mn-lt"/>
              <a:cs typeface="+mn-lt"/>
            </a:endParaRPr>
          </a:p>
          <a:p>
            <a:pPr marL="457200" lvl="1" indent="0">
              <a:buNone/>
            </a:pPr>
            <a:r>
              <a:rPr lang="ko-KR" dirty="0" err="1">
                <a:latin typeface="+mj-lt"/>
                <a:ea typeface="+mn-lt"/>
                <a:cs typeface="+mn-lt"/>
              </a:rPr>
              <a:t>Ensure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fair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comparison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under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identical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experimental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settings</a:t>
            </a:r>
            <a:endParaRPr lang="en-US" altLang="ko-KR" dirty="0">
              <a:latin typeface="+mj-lt"/>
              <a:ea typeface="+mn-lt"/>
              <a:cs typeface="+mn-lt"/>
            </a:endParaRPr>
          </a:p>
          <a:p>
            <a:pPr marL="457200" lvl="1" indent="0">
              <a:buNone/>
            </a:pPr>
            <a:r>
              <a:rPr lang="ko-KR" dirty="0" err="1">
                <a:latin typeface="+mj-lt"/>
                <a:ea typeface="+mn-lt"/>
                <a:cs typeface="+mn-lt"/>
              </a:rPr>
              <a:t>Demonstrate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measurable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performance</a:t>
            </a:r>
            <a:r>
              <a:rPr lang="ko-KR" dirty="0">
                <a:latin typeface="+mj-lt"/>
                <a:ea typeface="+mn-lt"/>
                <a:cs typeface="+mn-lt"/>
              </a:rPr>
              <a:t> </a:t>
            </a:r>
            <a:r>
              <a:rPr lang="ko-KR" dirty="0" err="1">
                <a:latin typeface="+mj-lt"/>
                <a:ea typeface="+mn-lt"/>
                <a:cs typeface="+mn-lt"/>
              </a:rPr>
              <a:t>improvements</a:t>
            </a:r>
            <a:endParaRPr lang="ko-KR" dirty="0">
              <a:latin typeface="+mj-lt"/>
            </a:endParaRPr>
          </a:p>
          <a:p>
            <a:pPr marL="457200" indent="-457200">
              <a:buAutoNum type="arabicPeriod"/>
            </a:pPr>
            <a:endParaRPr lang="ko-KR" altLang="en-US" b="1" dirty="0">
              <a:latin typeface="+mj-lt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96A950A-C318-D9E3-B59C-A266BA668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720A571-499B-3135-3532-E48B95E4D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/>
          <a:lstStyle/>
          <a:p>
            <a:r>
              <a:rPr lang="en-US" dirty="0"/>
              <a:t>12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96180CF-1D5E-98ED-8D6B-B5D656E76E4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ko-KR" altLang="en-US" dirty="0" err="1">
                <a:latin typeface="+mj-lt"/>
              </a:rPr>
              <a:t>Research</a:t>
            </a:r>
            <a:r>
              <a:rPr lang="ko-KR" altLang="en-US" dirty="0">
                <a:latin typeface="+mj-lt"/>
              </a:rPr>
              <a:t> </a:t>
            </a:r>
            <a:r>
              <a:rPr lang="ko-KR" altLang="en-US" dirty="0" err="1">
                <a:latin typeface="+mj-lt"/>
              </a:rPr>
              <a:t>Goal</a:t>
            </a:r>
            <a:r>
              <a:rPr lang="ko-KR" altLang="en-US" dirty="0">
                <a:latin typeface="+mj-lt"/>
              </a:rPr>
              <a:t> &amp; </a:t>
            </a:r>
            <a:r>
              <a:rPr lang="ko-KR" altLang="en-US" dirty="0" err="1">
                <a:latin typeface="+mj-lt"/>
              </a:rPr>
              <a:t>Workflow</a:t>
            </a:r>
          </a:p>
        </p:txBody>
      </p:sp>
    </p:spTree>
    <p:extLst>
      <p:ext uri="{BB962C8B-B14F-4D97-AF65-F5344CB8AC3E}">
        <p14:creationId xmlns:p14="http://schemas.microsoft.com/office/powerpoint/2010/main" val="114242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0F33C-F7F1-F3DD-F9C6-38D5E2D81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87BBD776-984F-8FB9-8ED5-5384E9B3E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039" y="922096"/>
            <a:ext cx="10647861" cy="792346"/>
          </a:xfrm>
        </p:spPr>
        <p:txBody>
          <a:bodyPr>
            <a:normAutofit/>
          </a:bodyPr>
          <a:lstStyle/>
          <a:p>
            <a:r>
              <a:rPr lang="en-US" altLang="ko-KR" sz="2200" dirty="0"/>
              <a:t>Next Experiment</a:t>
            </a:r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8196939A-5CDA-BD94-9548-EDA4D6AE2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862" y="1832003"/>
            <a:ext cx="10691265" cy="424671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b="1" dirty="0" err="1">
                <a:latin typeface="+mj-lt"/>
              </a:rPr>
              <a:t>DiffusionDrive</a:t>
            </a:r>
            <a:endParaRPr lang="ko-KR" altLang="en-US" dirty="0">
              <a:latin typeface="+mj-lt"/>
              <a:ea typeface="+mn-lt"/>
              <a:cs typeface="+mn-lt"/>
            </a:endParaRPr>
          </a:p>
          <a:p>
            <a:r>
              <a:rPr lang="en-US" dirty="0">
                <a:latin typeface="+mj-lt"/>
                <a:ea typeface="+mn-lt"/>
                <a:cs typeface="+mn-lt"/>
              </a:rPr>
              <a:t>Apply </a:t>
            </a:r>
            <a:r>
              <a:rPr lang="en-US" b="1" dirty="0">
                <a:latin typeface="+mj-lt"/>
                <a:ea typeface="+mn-lt"/>
                <a:cs typeface="+mn-lt"/>
              </a:rPr>
              <a:t>latent DDPM/DDIM-based image preprocessing</a:t>
            </a:r>
            <a:r>
              <a:rPr lang="en-US" dirty="0">
                <a:latin typeface="+mj-lt"/>
                <a:ea typeface="+mn-lt"/>
                <a:cs typeface="+mn-lt"/>
              </a:rPr>
              <a:t> </a:t>
            </a:r>
            <a:r>
              <a:rPr lang="en-US" altLang="ko-KR" dirty="0">
                <a:latin typeface="+mj-lt"/>
                <a:ea typeface="+mn-lt"/>
                <a:cs typeface="+mn-lt"/>
              </a:rPr>
              <a:t>methods</a:t>
            </a:r>
            <a:r>
              <a:rPr lang="en-US" dirty="0">
                <a:latin typeface="+mj-lt"/>
                <a:ea typeface="+mn-lt"/>
                <a:cs typeface="+mn-lt"/>
              </a:rPr>
              <a:t>.</a:t>
            </a:r>
            <a:endParaRPr lang="ko-KR" dirty="0">
              <a:latin typeface="+mj-lt"/>
            </a:endParaRPr>
          </a:p>
          <a:p>
            <a:r>
              <a:rPr lang="en-US" dirty="0">
                <a:latin typeface="+mj-lt"/>
                <a:ea typeface="+mn-lt"/>
                <a:cs typeface="+mn-lt"/>
              </a:rPr>
              <a:t>Modify existing diffusion optimization algorithms used in prior work.</a:t>
            </a:r>
            <a:endParaRPr lang="en-US" dirty="0">
              <a:latin typeface="+mj-lt"/>
            </a:endParaRPr>
          </a:p>
          <a:p>
            <a:r>
              <a:rPr lang="en-US" dirty="0">
                <a:latin typeface="+mj-lt"/>
                <a:ea typeface="+mn-lt"/>
                <a:cs typeface="+mn-lt"/>
              </a:rPr>
              <a:t>Investigate</a:t>
            </a:r>
            <a:r>
              <a:rPr lang="en-US" altLang="ko-KR" dirty="0">
                <a:latin typeface="+mj-lt"/>
                <a:ea typeface="+mn-lt"/>
                <a:cs typeface="+mn-lt"/>
              </a:rPr>
              <a:t> </a:t>
            </a:r>
            <a:r>
              <a:rPr lang="en-US" dirty="0">
                <a:latin typeface="+mj-lt"/>
                <a:ea typeface="+mn-lt"/>
                <a:cs typeface="+mn-lt"/>
              </a:rPr>
              <a:t>alternative optimization strategies for</a:t>
            </a:r>
            <a:r>
              <a:rPr lang="en-US" altLang="ko-KR" dirty="0">
                <a:latin typeface="+mj-lt"/>
                <a:ea typeface="+mn-lt"/>
                <a:cs typeface="+mn-lt"/>
              </a:rPr>
              <a:t> </a:t>
            </a:r>
            <a:r>
              <a:rPr lang="en-US" dirty="0">
                <a:latin typeface="+mj-lt"/>
                <a:ea typeface="+mn-lt"/>
                <a:cs typeface="+mn-lt"/>
              </a:rPr>
              <a:t>efficiency and performance improvement.</a:t>
            </a:r>
            <a:endParaRPr lang="en-US" dirty="0">
              <a:latin typeface="+mj-lt"/>
            </a:endParaRPr>
          </a:p>
          <a:p>
            <a:pPr marL="0" indent="0">
              <a:buNone/>
            </a:pPr>
            <a:endParaRPr lang="en-US" altLang="ko-KR" dirty="0">
              <a:latin typeface="+mj-lt"/>
            </a:endParaRPr>
          </a:p>
          <a:p>
            <a:pPr marL="0" indent="0">
              <a:buNone/>
            </a:pPr>
            <a:r>
              <a:rPr lang="en-US" b="1" dirty="0" err="1">
                <a:latin typeface="+mj-lt"/>
              </a:rPr>
              <a:t>DiffusionPlanner</a:t>
            </a:r>
            <a:endParaRPr lang="en-US" dirty="0" err="1">
              <a:latin typeface="+mj-lt"/>
            </a:endParaRPr>
          </a:p>
          <a:p>
            <a:r>
              <a:rPr lang="en-US" dirty="0">
                <a:latin typeface="+mj-lt"/>
                <a:ea typeface="+mn-lt"/>
                <a:cs typeface="+mn-lt"/>
              </a:rPr>
              <a:t>Reduce computational cost of Transformer-based architectures by combining </a:t>
            </a:r>
            <a:r>
              <a:rPr lang="en-US" b="1" dirty="0">
                <a:latin typeface="+mj-lt"/>
                <a:ea typeface="+mn-lt"/>
                <a:cs typeface="+mn-lt"/>
              </a:rPr>
              <a:t>CNN +</a:t>
            </a:r>
            <a:r>
              <a:rPr lang="en-US" altLang="ko-KR" b="1" dirty="0">
                <a:latin typeface="+mj-lt"/>
                <a:ea typeface="+mn-lt"/>
                <a:cs typeface="+mn-lt"/>
              </a:rPr>
              <a:t> </a:t>
            </a:r>
            <a:r>
              <a:rPr lang="en-US" b="1" dirty="0">
                <a:latin typeface="+mj-lt"/>
                <a:ea typeface="+mn-lt"/>
                <a:cs typeface="+mn-lt"/>
              </a:rPr>
              <a:t>Transformer</a:t>
            </a:r>
            <a:r>
              <a:rPr lang="en-US" dirty="0">
                <a:latin typeface="+mj-lt"/>
                <a:ea typeface="+mn-lt"/>
                <a:cs typeface="+mn-lt"/>
              </a:rPr>
              <a:t> models.</a:t>
            </a:r>
            <a:endParaRPr lang="ko-KR" dirty="0">
              <a:latin typeface="+mj-lt"/>
            </a:endParaRPr>
          </a:p>
          <a:p>
            <a:r>
              <a:rPr lang="en-US" dirty="0">
                <a:latin typeface="+mj-lt"/>
                <a:ea typeface="+mn-lt"/>
                <a:cs typeface="+mn-lt"/>
              </a:rPr>
              <a:t>Explore </a:t>
            </a:r>
            <a:r>
              <a:rPr lang="en-US" b="1" dirty="0">
                <a:latin typeface="+mj-lt"/>
                <a:ea typeface="+mn-lt"/>
                <a:cs typeface="+mn-lt"/>
              </a:rPr>
              <a:t>LLM-based High-Level Control</a:t>
            </a:r>
            <a:r>
              <a:rPr lang="en-US" altLang="ko-KR" b="1" dirty="0">
                <a:latin typeface="+mj-lt"/>
                <a:ea typeface="+mn-lt"/>
                <a:cs typeface="+mn-lt"/>
              </a:rPr>
              <a:t> </a:t>
            </a:r>
            <a:r>
              <a:rPr lang="en-US" b="1" dirty="0">
                <a:latin typeface="+mj-lt"/>
                <a:ea typeface="+mn-lt"/>
                <a:cs typeface="+mn-lt"/>
              </a:rPr>
              <a:t>(</a:t>
            </a:r>
            <a:r>
              <a:rPr lang="en-US" altLang="ko-KR" b="1" dirty="0">
                <a:latin typeface="+mj-lt"/>
                <a:ea typeface="+mn-lt"/>
                <a:cs typeface="+mn-lt"/>
              </a:rPr>
              <a:t>HLC</a:t>
            </a:r>
            <a:r>
              <a:rPr lang="en-US" b="1" dirty="0">
                <a:latin typeface="+mj-lt"/>
                <a:ea typeface="+mn-lt"/>
                <a:cs typeface="+mn-lt"/>
              </a:rPr>
              <a:t>)</a:t>
            </a:r>
            <a:r>
              <a:rPr lang="en-US" dirty="0">
                <a:latin typeface="+mj-lt"/>
                <a:ea typeface="+mn-lt"/>
                <a:cs typeface="+mn-lt"/>
              </a:rPr>
              <a:t> for planning</a:t>
            </a:r>
            <a:r>
              <a:rPr lang="en-US" altLang="ko-KR" dirty="0">
                <a:latin typeface="+mj-lt"/>
                <a:ea typeface="+mn-lt"/>
                <a:cs typeface="+mn-lt"/>
              </a:rPr>
              <a:t> </a:t>
            </a:r>
            <a:r>
              <a:rPr lang="en-US" dirty="0">
                <a:latin typeface="+mj-lt"/>
                <a:ea typeface="+mn-lt"/>
                <a:cs typeface="+mn-lt"/>
              </a:rPr>
              <a:t>and</a:t>
            </a:r>
            <a:r>
              <a:rPr lang="en-US" altLang="ko-KR" dirty="0">
                <a:latin typeface="+mj-lt"/>
                <a:ea typeface="+mn-lt"/>
                <a:cs typeface="+mn-lt"/>
              </a:rPr>
              <a:t> </a:t>
            </a:r>
            <a:r>
              <a:rPr lang="en-US" dirty="0">
                <a:latin typeface="+mj-lt"/>
                <a:ea typeface="+mn-lt"/>
                <a:cs typeface="+mn-lt"/>
              </a:rPr>
              <a:t>decision-making.</a:t>
            </a:r>
            <a:endParaRPr lang="en-US" dirty="0">
              <a:latin typeface="+mj-lt"/>
            </a:endParaRPr>
          </a:p>
          <a:p>
            <a:r>
              <a:rPr lang="en-US" dirty="0">
                <a:latin typeface="+mj-lt"/>
                <a:ea typeface="+mn-lt"/>
                <a:cs typeface="+mn-lt"/>
              </a:rPr>
              <a:t>Design lightweight</a:t>
            </a:r>
            <a:r>
              <a:rPr lang="en-US" altLang="ko-KR" dirty="0">
                <a:latin typeface="+mj-lt"/>
                <a:ea typeface="+mn-lt"/>
                <a:cs typeface="+mn-lt"/>
              </a:rPr>
              <a:t> </a:t>
            </a:r>
            <a:r>
              <a:rPr lang="en-US" dirty="0">
                <a:latin typeface="+mj-lt"/>
                <a:ea typeface="+mn-lt"/>
                <a:cs typeface="+mn-lt"/>
              </a:rPr>
              <a:t>and high-dimensional planning</a:t>
            </a:r>
            <a:r>
              <a:rPr lang="en-US" altLang="ko-KR" dirty="0">
                <a:latin typeface="+mj-lt"/>
                <a:ea typeface="+mn-lt"/>
                <a:cs typeface="+mn-lt"/>
              </a:rPr>
              <a:t> </a:t>
            </a:r>
            <a:r>
              <a:rPr lang="en-US" dirty="0">
                <a:latin typeface="+mj-lt"/>
                <a:ea typeface="+mn-lt"/>
                <a:cs typeface="+mn-lt"/>
              </a:rPr>
              <a:t>frameworks.</a:t>
            </a:r>
            <a:endParaRPr lang="en-US" dirty="0">
              <a:latin typeface="+mj-lt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8470F4A-A573-18BA-3FB5-555083289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4AD10DE-81C3-46A8-C710-DAE18D77A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/>
          <a:lstStyle/>
          <a:p>
            <a:r>
              <a:rPr lang="en-US" dirty="0"/>
              <a:t>13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2089FDB-5C0E-06E9-4092-B4CEE980F82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ko-KR" altLang="en-US" dirty="0" err="1">
                <a:latin typeface="+mj-lt"/>
              </a:rPr>
              <a:t>Research</a:t>
            </a:r>
            <a:r>
              <a:rPr lang="ko-KR" altLang="en-US" dirty="0">
                <a:latin typeface="+mj-lt"/>
              </a:rPr>
              <a:t> </a:t>
            </a:r>
            <a:r>
              <a:rPr lang="ko-KR" altLang="en-US" dirty="0" err="1">
                <a:latin typeface="+mj-lt"/>
              </a:rPr>
              <a:t>Goal</a:t>
            </a:r>
            <a:r>
              <a:rPr lang="ko-KR" altLang="en-US" dirty="0">
                <a:latin typeface="+mj-lt"/>
              </a:rPr>
              <a:t> &amp; </a:t>
            </a:r>
            <a:r>
              <a:rPr lang="ko-KR" altLang="en-US" dirty="0" err="1">
                <a:latin typeface="+mj-lt"/>
              </a:rPr>
              <a:t>Workflow</a:t>
            </a:r>
          </a:p>
        </p:txBody>
      </p:sp>
    </p:spTree>
    <p:extLst>
      <p:ext uri="{BB962C8B-B14F-4D97-AF65-F5344CB8AC3E}">
        <p14:creationId xmlns:p14="http://schemas.microsoft.com/office/powerpoint/2010/main" val="1517105029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VTI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ChronicleVTI">
      <a:majorFont>
        <a:latin typeface="Univers Condensed"/>
        <a:ea typeface=""/>
        <a:cs typeface=""/>
      </a:majorFont>
      <a:minorFont>
        <a:latin typeface="Calisto MT" panose="02040603050505030304"/>
        <a:ea typeface=""/>
        <a:cs typeface=""/>
      </a:minorFont>
    </a:fontScheme>
    <a:fmtScheme name="Chronicl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34FD3B1-53CD-4A5C-943C-C44DFF248C3E}" vid="{19A790DA-2E4D-4134-98A6-7DECB1A1B842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12A53F8-B9CB-48BC-AEF9-102E7F51EE87}">
  <we:reference id="wa200005566" version="1.0.0.0" store="en-US" storeType="omex"/>
  <we:alternateReferences>
    <we:reference id="wa200005566" version="1.0.0.0" store="omex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1192</Words>
  <Application>Microsoft Office PowerPoint</Application>
  <PresentationFormat>와이드스크린</PresentationFormat>
  <Paragraphs>240</Paragraphs>
  <Slides>15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6" baseType="lpstr">
      <vt:lpstr>ChronicleVTI</vt:lpstr>
      <vt:lpstr>Regular Research Seminar  </vt:lpstr>
      <vt:lpstr>TABLE OF CONTENTS</vt:lpstr>
      <vt:lpstr>main research directions for E2E autonomous driving based on my analysis</vt:lpstr>
      <vt:lpstr>Motivation: Why Diffusion-based Planning?</vt:lpstr>
      <vt:lpstr>Auto regressive vs Diffusion-based Generation</vt:lpstr>
      <vt:lpstr>Two Axes of DiffusionDrive: U-Net and Transformer</vt:lpstr>
      <vt:lpstr>Two Axes of DiffusionDrive: U-Net and Transformer</vt:lpstr>
      <vt:lpstr>Comparison of Diffusion Models Based on U-Net and Transformer</vt:lpstr>
      <vt:lpstr>Introduce MY Base Source Code _ DiffusionDrive</vt:lpstr>
      <vt:lpstr>Introduce MY Base Source Code 2 _ Diffusion-Planner</vt:lpstr>
      <vt:lpstr>Introduce MY Base Source Code's Feature</vt:lpstr>
      <vt:lpstr>My experiments Work Flow</vt:lpstr>
      <vt:lpstr>Dvc &amp; DataBricks</vt:lpstr>
      <vt:lpstr>Research Goal</vt:lpstr>
      <vt:lpstr>Next Experiment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SuHan Yoon</cp:lastModifiedBy>
  <cp:revision>747</cp:revision>
  <dcterms:created xsi:type="dcterms:W3CDTF">2025-07-17T09:28:14Z</dcterms:created>
  <dcterms:modified xsi:type="dcterms:W3CDTF">2026-01-31T04:56:36Z</dcterms:modified>
</cp:coreProperties>
</file>