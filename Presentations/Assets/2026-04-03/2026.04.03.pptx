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83" r:id="rId3"/>
    <p:sldId id="334" r:id="rId4"/>
    <p:sldId id="336" r:id="rId5"/>
    <p:sldId id="338" r:id="rId6"/>
    <p:sldId id="287" r:id="rId7"/>
    <p:sldId id="323" r:id="rId8"/>
    <p:sldId id="335" r:id="rId9"/>
    <p:sldId id="337" r:id="rId10"/>
    <p:sldId id="31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섹션" id="{C6BA5B10-B07B-4591-8EB3-5A0A65AE9893}">
          <p14:sldIdLst>
            <p14:sldId id="256"/>
            <p14:sldId id="283"/>
            <p14:sldId id="334"/>
            <p14:sldId id="336"/>
            <p14:sldId id="338"/>
            <p14:sldId id="287"/>
            <p14:sldId id="323"/>
            <p14:sldId id="335"/>
            <p14:sldId id="337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5291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8F44F-2FAE-4571-B2CB-47DE0AE127D0}" v="30" dt="2026-04-03T07:13:34.6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84" d="100"/>
          <a:sy n="184" d="100"/>
        </p:scale>
        <p:origin x="18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EDD053C-BAAA-C351-28AA-A20306608B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EADD5A-C5C4-57D5-E710-F77985F486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1FD9B-F624-43C9-B22F-0D673159E58C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71DB72-2024-73BE-E842-0A6B59C102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F363F7-F061-FEF3-6864-B09861048E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C5A43-17D2-486C-8FFC-DF05DE044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186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21766-809D-4C70-8E4C-CA0D711AC63D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62159-48CD-4B48-BFB0-8057643A3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06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7482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1731264"/>
            <a:ext cx="2478921" cy="4241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6327" y="1731264"/>
            <a:ext cx="7978140" cy="4241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E84698-AA90-F3E4-F99B-70405568D926}"/>
              </a:ext>
            </a:extLst>
          </p:cNvPr>
          <p:cNvSpPr/>
          <p:nvPr userDrawn="1"/>
        </p:nvSpPr>
        <p:spPr>
          <a:xfrm>
            <a:off x="3267456" y="1731264"/>
            <a:ext cx="45719" cy="424183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740A2B20-AA81-E195-44DD-88AFD628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4A432-8FC6-8D7C-921E-33EE1E25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74206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ECE1E7F2-6759-D411-CD6A-1F5F121680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DE256-6051-3303-A109-51FB684B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98FE9D0F-DB72-2C39-4DD7-95078731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90854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7055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2496"/>
            <a:ext cx="10691265" cy="42467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내용 개체 틀 9">
            <a:extLst>
              <a:ext uri="{FF2B5EF4-FFF2-40B4-BE49-F238E27FC236}">
                <a16:creationId xmlns:a16="http://schemas.microsoft.com/office/drawing/2014/main" id="{99C5436F-FFEA-B8CC-8F28-10EB9C361F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BD5DBF9F-1177-4B55-FC16-72E0C7F5B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1DFFA-BA02-4C3C-012C-CCA6E498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82839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A85CEB4F-87D5-5356-A051-D953956D8C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9AC429-1A88-C0BC-F40A-16C67834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3B45D-59EE-DA16-3DB5-E52533EE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63357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3E81A30A-E7CB-B1AE-22F0-B1DCA0C98F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197E4-F9E6-1AEB-7D67-E888DF33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8A3FF-1481-4021-20B7-272632691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9363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내용 개체 틀 9">
            <a:extLst>
              <a:ext uri="{FF2B5EF4-FFF2-40B4-BE49-F238E27FC236}">
                <a16:creationId xmlns:a16="http://schemas.microsoft.com/office/drawing/2014/main" id="{6B786780-0B32-7051-3F54-D0F027C987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9AFA7094-A05A-D0CD-0335-CE6577EC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D8288FC-07DE-2075-0659-D5D0DA44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25301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383" y="919623"/>
            <a:ext cx="10640005" cy="76154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15384" y="2505075"/>
            <a:ext cx="5282192" cy="342377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42377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내용 개체 틀 9">
            <a:extLst>
              <a:ext uri="{FF2B5EF4-FFF2-40B4-BE49-F238E27FC236}">
                <a16:creationId xmlns:a16="http://schemas.microsoft.com/office/drawing/2014/main" id="{3A3BDAFD-3DE3-2465-E072-F3FC430D04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262CF165-1AD5-F9A9-49F5-F1C526CB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D0927724-D5C5-F919-1391-2DE460BC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80808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내용 개체 틀 9">
            <a:extLst>
              <a:ext uri="{FF2B5EF4-FFF2-40B4-BE49-F238E27FC236}">
                <a16:creationId xmlns:a16="http://schemas.microsoft.com/office/drawing/2014/main" id="{6E1C46FB-E5BE-036B-6B4D-FBF12CBD54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6154142-B74E-2E39-9635-919BDBD0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33ADF0A-60E4-DFBA-2573-BEAED65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3307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DFD9F97F-D89B-A4D3-49C5-C28E47BD9E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E64461-C323-00D5-9D57-2A0BA52E0B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258" y="1288473"/>
            <a:ext cx="10903108" cy="4580516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696A1D-6AEE-86F8-3E1F-5ED3AB0CA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6" y="781665"/>
            <a:ext cx="10912940" cy="506808"/>
          </a:xfrm>
        </p:spPr>
        <p:txBody>
          <a:bodyPr anchor="b"/>
          <a:lstStyle>
            <a:lvl1pPr>
              <a:defRPr sz="24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FA932B8E-E1F9-F56C-D424-D0DD8AFA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7D5EDDBC-BD15-EDA0-19E3-C1C7F85AB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72520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내용 개체 틀 9">
            <a:extLst>
              <a:ext uri="{FF2B5EF4-FFF2-40B4-BE49-F238E27FC236}">
                <a16:creationId xmlns:a16="http://schemas.microsoft.com/office/drawing/2014/main" id="{7A2D9B18-B788-ADA1-8408-D4ABB0DAAE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5" name="Date Placeholder 6">
            <a:extLst>
              <a:ext uri="{FF2B5EF4-FFF2-40B4-BE49-F238E27FC236}">
                <a16:creationId xmlns:a16="http://schemas.microsoft.com/office/drawing/2014/main" id="{ADDAA933-C539-5834-FA1C-E4CEFC05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B2831CDD-DAA7-E185-ED3B-01EFA462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4275647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4" name="내용 개체 틀 9">
            <a:extLst>
              <a:ext uri="{FF2B5EF4-FFF2-40B4-BE49-F238E27FC236}">
                <a16:creationId xmlns:a16="http://schemas.microsoft.com/office/drawing/2014/main" id="{812C5E99-AE13-20E2-118B-E36DAAA56A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0494F13-ACEB-30AF-B066-37587FD0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ACA8D0F9-F3D8-7FE7-85AB-1DA23DCB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862030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8FE5B2F9-7CEB-FE9B-E261-FDF16CB4E9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57F15D69-413C-C82E-B876-4E53ACB7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6B7A67FF-CB28-51D5-7667-2AD8A9E6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858221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5C9EA5B6-8CB1-CE74-02BD-32903DA4ED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E26FC516-7963-C28F-E3BE-A69D4838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B4CE56F7-437D-BD91-EFAC-61B57EDF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613383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42430-68F2-2899-E6D1-063123A8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EADE9D-F274-63A2-C4CC-CB9FA449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B254D799-F997-6E90-3B7B-BCEE5703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67F9A-B021-6C5B-8DDD-BA774121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118317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err="1">
                <a:solidFill>
                  <a:schemeClr val="tx1">
                    <a:lumMod val="65000"/>
                    <a:lumOff val="35000"/>
                  </a:schemeClr>
                </a:solidFill>
              </a:rPr>
              <a:t>SooHan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Yoon</a:t>
            </a:r>
            <a:r>
              <a:rPr lang="en-US"/>
              <a:t>
           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상징, 스케치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FFBA6F-F270-5AF2-B9D4-8997E676E8C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721" y="79029"/>
            <a:ext cx="717995" cy="717995"/>
          </a:xfrm>
          <a:prstGeom prst="rect">
            <a:avLst/>
          </a:prstGeom>
        </p:spPr>
      </p:pic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F6FF66A4-8FC7-3291-D61D-5EB35E8F6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4/3/2026</a:t>
            </a:fld>
            <a:endParaRPr lang="en-US" b="0"/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84EF316C-521E-8C35-CAAE-18E36CD15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367313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789" r:id="rId2"/>
    <p:sldLayoutId id="2147483800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2" r:id="rId1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CB409-83FE-E1A1-A66E-341FFA5B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0246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Regular Research Seminar</a:t>
            </a:r>
            <a:br>
              <a:rPr lang="en-US"/>
            </a:br>
            <a:br>
              <a:rPr lang="en-US"/>
            </a:br>
            <a:endParaRPr lang="en-US" altLang="ko-KR" sz="600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7268F-36A1-5B2F-628B-80342C3A2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838FAB-BBB1-95EF-2074-29F58AC8554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15383" y="4632566"/>
            <a:ext cx="6992938" cy="1303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Univers Condensed"/>
              </a:rPr>
              <a:t>Apr 3rd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Univers Condensed"/>
              </a:rPr>
              <a:t>2025298007 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Univers Condensed"/>
              </a:rPr>
              <a:t>SuHan Yoon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39E1D98-0F60-93D5-7B61-23C73EA32C45}"/>
              </a:ext>
            </a:extLst>
          </p:cNvPr>
          <p:cNvSpPr txBox="1">
            <a:spLocks/>
          </p:cNvSpPr>
          <p:nvPr/>
        </p:nvSpPr>
        <p:spPr>
          <a:xfrm>
            <a:off x="715383" y="1915439"/>
            <a:ext cx="10691265" cy="10246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>
                <a:solidFill>
                  <a:schemeClr val="tx1">
                    <a:lumMod val="65000"/>
                    <a:lumOff val="35000"/>
                  </a:schemeClr>
                </a:solidFill>
              </a:rPr>
              <a:t>E2E with Diffusion Model Planning</a:t>
            </a:r>
            <a:endParaRPr lang="ko-KR" altLang="ko-KR" sz="36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56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D89B-2F2E-28D3-6222-AC684325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BF6A209E-7868-C67B-5D29-52B54A68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3" y="922096"/>
            <a:ext cx="10676797" cy="589790"/>
          </a:xfrm>
        </p:spPr>
        <p:txBody>
          <a:bodyPr>
            <a:normAutofit/>
          </a:bodyPr>
          <a:lstStyle/>
          <a:p>
            <a:r>
              <a:rPr lang="en-US" altLang="ko-KR" sz="2400" b="1">
                <a:latin typeface="Univers Condensed"/>
              </a:rPr>
              <a:t>TABLE OF CONTENTS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046A7F5-C94A-0DCF-8A82-76D894615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103" y="1457141"/>
            <a:ext cx="10691265" cy="46014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Technical Survey</a:t>
            </a:r>
          </a:p>
          <a:p>
            <a:pPr marL="342900" indent="-342900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Alpamayo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Fine-Tuning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---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Engineering</a:t>
            </a:r>
          </a:p>
          <a:p>
            <a:pPr marL="342900" indent="-342900"/>
            <a:r>
              <a:rPr lang="en-US" altLang="ko-K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Autoware</a:t>
            </a:r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Optimization</a:t>
            </a:r>
          </a:p>
          <a:p>
            <a:pPr marL="342900" indent="-342900"/>
            <a:r>
              <a:rPr lang="en-US" altLang="ko-KR" sz="1600" dirty="0"/>
              <a:t>GenAD quantization &amp; </a:t>
            </a:r>
            <a:r>
              <a:rPr lang="en-US" altLang="ko-KR" sz="1600" dirty="0" err="1"/>
              <a:t>TensorRT</a:t>
            </a:r>
            <a:r>
              <a:rPr lang="en-US" altLang="ko-KR" sz="1600" dirty="0"/>
              <a:t> build</a:t>
            </a:r>
          </a:p>
          <a:p>
            <a:pPr marL="342900" indent="-342900"/>
            <a:r>
              <a:rPr lang="en-US" altLang="ko-KR" sz="1600" dirty="0"/>
              <a:t>GenAD integration on </a:t>
            </a:r>
            <a:r>
              <a:rPr lang="en-US" altLang="ko-KR" sz="1600" dirty="0" err="1"/>
              <a:t>Autoware</a:t>
            </a:r>
            <a:r>
              <a:rPr lang="en-US" altLang="ko-KR" sz="1600" dirty="0"/>
              <a:t> &amp; performance evaluation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---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Research</a:t>
            </a:r>
          </a:p>
          <a:p>
            <a:pPr marL="342900" indent="-342900"/>
            <a:r>
              <a:rPr lang="en-US" altLang="ko-K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GRPO(Reinforcement Learning) Diffusion-Planner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---</a:t>
            </a:r>
          </a:p>
          <a:p>
            <a:pPr marL="342900" indent="-342900"/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3915E1-2782-2BEB-2343-ECAF2BD7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69A6E0-60C6-CFE2-DE98-1473B76D0F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87EB31D2-01D8-ADFE-E8DF-B77722D3DAB1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77962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21A6-0638-6C6F-8AD0-79D39671F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792BCC5-6ED1-B0A5-350E-95711D694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58813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sz="2400" dirty="0"/>
              <a:t>How to use </a:t>
            </a:r>
            <a:r>
              <a:rPr lang="en-US" altLang="ko-KR" sz="2400" dirty="0" err="1"/>
              <a:t>alpamayo</a:t>
            </a:r>
            <a:endParaRPr lang="en-US" altLang="ko-KR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1BE9C0-54A5-C912-84BD-5B9EF687B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7BF32F-7278-442D-EA11-94BAC68464A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5" y="186558"/>
            <a:ext cx="5753547" cy="4206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Technical Survey - </a:t>
            </a:r>
            <a:r>
              <a:rPr lang="en-US" alt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Alpamayo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Fine-Tuning</a:t>
            </a:r>
          </a:p>
          <a:p>
            <a:pPr marL="0" indent="0">
              <a:buNone/>
            </a:pPr>
            <a:endParaRPr lang="ko-KR" altLang="en-US" dirty="0">
              <a:latin typeface="+mj-lt"/>
            </a:endParaRP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33D889AC-FD09-F4BC-0466-168E240BE83A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2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2C89E9D-B5BF-985C-A138-4E4B13DEA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941" y="1628948"/>
            <a:ext cx="7730836" cy="337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95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2B3DB-4F31-BF7A-C5C4-607BE8ED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C7ADEFE-54F5-9AAB-A959-5D187A863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58813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sz="2400" dirty="0"/>
              <a:t>What is </a:t>
            </a:r>
            <a:r>
              <a:rPr lang="en-US" altLang="ko-KR" sz="2400" dirty="0" err="1"/>
              <a:t>sft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coc</a:t>
            </a:r>
            <a:r>
              <a:rPr lang="en-US" altLang="ko-KR" sz="2400" dirty="0"/>
              <a:t>?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325F855-D967-093F-39B9-79B94C1A8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AA698C9-0058-6825-2BA6-B6FE394956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5" y="186558"/>
            <a:ext cx="5753547" cy="4206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Technical Survey - </a:t>
            </a:r>
            <a:r>
              <a:rPr lang="en-US" alt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Alpamayo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Fine-Tuning</a:t>
            </a:r>
          </a:p>
          <a:p>
            <a:pPr marL="0" indent="0">
              <a:buNone/>
            </a:pPr>
            <a:endParaRPr lang="ko-KR" altLang="en-US" dirty="0">
              <a:latin typeface="+mj-lt"/>
            </a:endParaRP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6CACD827-C3C4-9D75-5E8A-F49243E18415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679882-82EB-649E-FDDF-70E61C160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ko-KR" b="1" dirty="0"/>
              <a:t>SFT (Supervised Fine-Tuning)</a:t>
            </a:r>
            <a:endParaRPr lang="en-US" altLang="ko-KR" dirty="0"/>
          </a:p>
          <a:p>
            <a:r>
              <a:rPr lang="en-US" altLang="ko-KR" dirty="0"/>
              <a:t>A method to update pretrained model weights using expert demonstration data</a:t>
            </a:r>
          </a:p>
          <a:p>
            <a:r>
              <a:rPr lang="en-US" altLang="ko-KR" dirty="0"/>
              <a:t>Input: multi-camera images + </a:t>
            </a:r>
            <a:r>
              <a:rPr lang="en-US" altLang="ko-KR" dirty="0" err="1"/>
              <a:t>egomotion</a:t>
            </a:r>
            <a:r>
              <a:rPr lang="en-US" altLang="ko-KR" dirty="0"/>
              <a:t> history</a:t>
            </a:r>
          </a:p>
          <a:p>
            <a:r>
              <a:rPr lang="en-US" altLang="ko-KR" dirty="0"/>
              <a:t>Output: trajectory + reasoning trace</a:t>
            </a:r>
          </a:p>
          <a:p>
            <a:r>
              <a:rPr lang="en-US" altLang="ko-KR" dirty="0"/>
              <a:t>Essentially Behavior Cloning, but learns "why" not just "what"</a:t>
            </a:r>
          </a:p>
          <a:p>
            <a:r>
              <a:rPr lang="en-US" altLang="ko-KR" dirty="0" err="1"/>
              <a:t>Alpamayo</a:t>
            </a:r>
            <a:r>
              <a:rPr lang="en-US" altLang="ko-KR" dirty="0"/>
              <a:t> provides ready-to-run SFT scripts for domain adaptation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b="1" dirty="0"/>
              <a:t>CoC (Chain of Causation)</a:t>
            </a:r>
            <a:endParaRPr lang="en-US" altLang="ko-KR" dirty="0"/>
          </a:p>
          <a:p>
            <a:r>
              <a:rPr lang="en-US" altLang="ko-KR" dirty="0"/>
              <a:t>A structured causal reasoning label format (not a dataset)</a:t>
            </a:r>
          </a:p>
          <a:p>
            <a:r>
              <a:rPr lang="en-US" altLang="ko-KR" dirty="0"/>
              <a:t>Evolution of </a:t>
            </a:r>
            <a:r>
              <a:rPr lang="en-US" altLang="ko-KR" dirty="0" err="1"/>
              <a:t>CoT</a:t>
            </a:r>
            <a:r>
              <a:rPr lang="en-US" altLang="ko-KR" dirty="0"/>
              <a:t> (Chain of Thought) for autonomous driving</a:t>
            </a:r>
          </a:p>
          <a:p>
            <a:r>
              <a:rPr lang="en-US" altLang="ko-KR" dirty="0"/>
              <a:t>Enforces explicit causal structure: Observation → Cause → Condition → Action</a:t>
            </a:r>
          </a:p>
          <a:p>
            <a:r>
              <a:rPr lang="en-US" altLang="ko-KR" dirty="0"/>
              <a:t>Example: "Motorcycle waiting at red light (cause) → left lane clear (condition) → decelerate and change to left lane (action)"</a:t>
            </a:r>
          </a:p>
          <a:p>
            <a:r>
              <a:rPr lang="en-US" altLang="ko-KR" dirty="0"/>
              <a:t>3M CoC traces included in NVIDIA Physical AI AV Dataset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653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F68D7-96E5-8DAF-E12C-2E3AE5433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6AD2EE07-4F9A-C97C-D4AC-917B21F93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58813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sz="2400" dirty="0"/>
              <a:t>Flexible multi-camera support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EEFB0F-44A4-440B-D253-97C7148B7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6CD83E-C119-0432-AA1A-4C6C85BA9B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5" y="186558"/>
            <a:ext cx="5753547" cy="4206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Technical Survey - </a:t>
            </a:r>
            <a:r>
              <a:rPr lang="en-US" alt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Alpamayo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Fine-Tuning</a:t>
            </a:r>
          </a:p>
          <a:p>
            <a:pPr marL="0" indent="0">
              <a:buNone/>
            </a:pPr>
            <a:endParaRPr lang="ko-KR" altLang="en-US" dirty="0">
              <a:latin typeface="+mj-lt"/>
            </a:endParaRP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D0F2AFA9-4076-24DC-4068-5D598CE2475F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4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AF37F03-3C3A-99CC-9D7F-7022880A36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63" t="2033" r="5920" b="5579"/>
          <a:stretch>
            <a:fillRect/>
          </a:stretch>
        </p:blipFill>
        <p:spPr>
          <a:xfrm>
            <a:off x="6364432" y="1510235"/>
            <a:ext cx="5346123" cy="4323819"/>
          </a:xfrm>
          <a:prstGeom prst="rect">
            <a:avLst/>
          </a:prstGeom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1CA186A-3D78-1088-05B0-8F9DFC851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2496"/>
            <a:ext cx="5928765" cy="4246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Flexible multi-camera support</a:t>
            </a:r>
            <a:endParaRPr lang="en-US" altLang="ko-KR" sz="1800" dirty="0"/>
          </a:p>
          <a:p>
            <a:pPr marL="0" indent="0">
              <a:buNone/>
            </a:pPr>
            <a:r>
              <a:rPr lang="en-US" altLang="ko-KR" sz="1400" dirty="0" err="1"/>
              <a:t>Alpamayo</a:t>
            </a:r>
            <a:r>
              <a:rPr lang="en-US" altLang="ko-KR" sz="1400" dirty="0"/>
              <a:t> 1.5 decouples the model from a fixed sensor rig. A single pre-trained VLA backbone adapts to different camera counts (6→4→2) via SFT, enabling cross-platform deployment with graceful accuracy degradation.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48599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C04D-0781-99D6-5BFC-579AAD90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0175690-918B-926B-76F2-BD378356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altLang="ko-KR" sz="2400" dirty="0"/>
              <a:t>conclusion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1494B8-DDC8-D593-8D7C-93B13808C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CB2F27-664E-0A25-69B7-3B8599F95A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buNone/>
            </a:pP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Technical Survey - </a:t>
            </a:r>
            <a:r>
              <a:rPr lang="en-US" alt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Alpamayo</a:t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Calisto MT"/>
            </a:endParaRPr>
          </a:p>
          <a:p>
            <a:pPr marL="0" indent="0">
              <a:buNone/>
            </a:pPr>
            <a:endParaRPr lang="ko-KR" altLang="en-US" dirty="0">
              <a:latin typeface="+mj-lt"/>
            </a:endParaRP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A6CB494B-A88A-4A72-E1F4-1CEA816420B0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</a:t>
            </a:r>
          </a:p>
        </p:txBody>
      </p:sp>
      <p:sp>
        <p:nvSpPr>
          <p:cNvPr id="17" name="내용 개체 틀 7">
            <a:extLst>
              <a:ext uri="{FF2B5EF4-FFF2-40B4-BE49-F238E27FC236}">
                <a16:creationId xmlns:a16="http://schemas.microsoft.com/office/drawing/2014/main" id="{DBE1E421-52F0-1143-AAA1-ADF335BC7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510235"/>
            <a:ext cx="5624421" cy="456848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altLang="ko-KR" sz="1800" dirty="0" err="1"/>
              <a:t>Alpamayo</a:t>
            </a:r>
            <a:r>
              <a:rPr lang="en-US" altLang="ko-KR" sz="1800" dirty="0"/>
              <a:t> 1.5 supports flexible camera configurations, allowing direct application to </a:t>
            </a:r>
            <a:r>
              <a:rPr lang="en-US" altLang="ko-KR" sz="1800" dirty="0" err="1"/>
              <a:t>C_Track</a:t>
            </a:r>
            <a:r>
              <a:rPr lang="en-US" altLang="ko-KR" sz="1800" dirty="0"/>
              <a:t> vehicles without matching the original NVIDIA sensor rig. Through SFT, we can adapt the 10B model to Korean road environments and </a:t>
            </a:r>
            <a:r>
              <a:rPr lang="en-US" altLang="ko-KR" sz="1800" dirty="0" err="1"/>
              <a:t>C_Track</a:t>
            </a:r>
            <a:r>
              <a:rPr lang="en-US" altLang="ko-KR" sz="1800" dirty="0"/>
              <a:t>-specific camera setups.</a:t>
            </a:r>
          </a:p>
          <a:p>
            <a:endParaRPr lang="en-US" altLang="ko-KR" sz="1800" dirty="0"/>
          </a:p>
          <a:p>
            <a:r>
              <a:rPr lang="en-US" altLang="ko-KR" sz="1800" dirty="0"/>
              <a:t>This produces "</a:t>
            </a:r>
            <a:r>
              <a:rPr lang="en-US" altLang="ko-KR" sz="1800" dirty="0" err="1"/>
              <a:t>Alpamayo-C_Track</a:t>
            </a:r>
            <a:r>
              <a:rPr lang="en-US" altLang="ko-KR" sz="1800" dirty="0"/>
              <a:t>" — a domain-adapted model that generates CoC reasoning labels on our own driving data. No existing open dataset provides Korean road scenes with causal reasoning annotations.</a:t>
            </a:r>
          </a:p>
          <a:p>
            <a:endParaRPr lang="en-US" altLang="ko-KR" sz="1800" dirty="0"/>
          </a:p>
          <a:p>
            <a:r>
              <a:rPr lang="en-US" altLang="ko-KR" sz="1800" dirty="0"/>
              <a:t>The resulting dataset enables three downstream paths: distillation into a lightweight onboard model, supervision signal for E2E models (VAD/GenAD), and Korean road benchmarking for </a:t>
            </a:r>
            <a:r>
              <a:rPr lang="en-US" altLang="ko-KR" sz="1800" dirty="0" err="1"/>
              <a:t>Autoware</a:t>
            </a:r>
            <a:r>
              <a:rPr lang="en-US" altLang="ko-KR" sz="1800" dirty="0"/>
              <a:t> integration.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114C72-CCC0-15CC-25FE-21EF6FBCD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283" y="2136825"/>
            <a:ext cx="5545604" cy="298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781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1AE21-E806-B4BA-E6DC-BD093E5CC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C4B4E991-EE9D-A7F4-468E-90926C954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696" y="955965"/>
            <a:ext cx="6511745" cy="30320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800" b="1" dirty="0" err="1"/>
              <a:t>Autoware</a:t>
            </a:r>
            <a:r>
              <a:rPr lang="en-US" altLang="ko-KR" sz="1800" b="1" dirty="0"/>
              <a:t> Optimization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18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600" dirty="0"/>
              <a:t>Configured </a:t>
            </a:r>
            <a:r>
              <a:rPr lang="en-US" altLang="ko-KR" sz="1600" dirty="0" err="1"/>
              <a:t>Autoware</a:t>
            </a:r>
            <a:r>
              <a:rPr lang="en-US" altLang="ko-KR" sz="1600" dirty="0"/>
              <a:t> to optimal state before full-scale deployment. Resolved memory bottleneck caused by localhost, eliminating bottleneck and fixing low RViz FPS issue.</a:t>
            </a:r>
            <a:endParaRPr lang="ko-KR" altLang="ko-KR" sz="1600" dirty="0">
              <a:latin typeface="+mj-ea"/>
              <a:ea typeface="+mj-ea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96B7F9-E01C-A488-A526-66F6469A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9AC6B7D-1D6A-338E-D127-2384171A91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Engineering </a:t>
            </a:r>
            <a:r>
              <a:rPr lang="en-US" altLang="ko-KR" dirty="0"/>
              <a:t>- </a:t>
            </a:r>
            <a:r>
              <a:rPr lang="en-US" altLang="ko-KR" dirty="0" err="1"/>
              <a:t>Autoware</a:t>
            </a:r>
            <a:endParaRPr lang="ko-KR" altLang="en-US" dirty="0"/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9CE32BB6-0A60-2004-26C3-F29E0384EB3A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6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2F25EE2-307F-E453-5020-1075E350E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628" y="2471965"/>
            <a:ext cx="6896209" cy="260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60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D3D56-A137-40D3-1FEB-9E391982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E56309B-A1A0-CC77-B88F-097C0858B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955964"/>
            <a:ext cx="11325374" cy="51227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sz="1800" b="1" dirty="0"/>
              <a:t>GenAD Quantization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600" dirty="0"/>
              <a:t>Successfully quantized the GenAD Head (main planning module) and completed building the .so library and </a:t>
            </a:r>
            <a:r>
              <a:rPr lang="en-US" altLang="ko-KR" sz="1600" dirty="0" err="1"/>
              <a:t>TensorRT</a:t>
            </a:r>
            <a:r>
              <a:rPr lang="en-US" altLang="ko-KR" sz="1600" dirty="0"/>
              <a:t> engine. This enables performance evaluation of the GenAD model on embedded platforms.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68A730-315C-0A9E-1B4F-880818B6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E6FBE54-267F-E467-7A9C-433938D2438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b="1" dirty="0">
                <a:latin typeface="+mj-lt"/>
              </a:rPr>
              <a:t>Engineering </a:t>
            </a:r>
            <a:r>
              <a:rPr lang="en-US" altLang="ko-KR" dirty="0">
                <a:latin typeface="+mj-lt"/>
              </a:rPr>
              <a:t>- </a:t>
            </a:r>
            <a:r>
              <a:rPr lang="en-US" altLang="ko-KR" dirty="0" err="1">
                <a:latin typeface="+mj-lt"/>
              </a:rPr>
              <a:t>Quantomize</a:t>
            </a:r>
            <a:endParaRPr lang="ko-KR" altLang="en-US" dirty="0">
              <a:latin typeface="+mj-lt"/>
            </a:endParaRPr>
          </a:p>
        </p:txBody>
      </p:sp>
      <p:sp>
        <p:nvSpPr>
          <p:cNvPr id="13" name="슬라이드 번호 개체 틀 4">
            <a:extLst>
              <a:ext uri="{FF2B5EF4-FFF2-40B4-BE49-F238E27FC236}">
                <a16:creationId xmlns:a16="http://schemas.microsoft.com/office/drawing/2014/main" id="{B2FE115A-43A2-C4CE-4491-F8BC3DAB07C5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7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78833E5-C5BE-F293-65D9-6471ECA98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46" y="2554353"/>
            <a:ext cx="8499763" cy="358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355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3B6DD-346F-5884-7394-E203D6CD8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내용 개체 틀 2">
            <a:extLst>
              <a:ext uri="{FF2B5EF4-FFF2-40B4-BE49-F238E27FC236}">
                <a16:creationId xmlns:a16="http://schemas.microsoft.com/office/drawing/2014/main" id="{E0277400-C54F-A8F5-E6DD-EEA62B69E5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7968" y="1245521"/>
            <a:ext cx="7120913" cy="3904934"/>
          </a:xfrm>
          <a:prstGeom prst="rect">
            <a:avLst/>
          </a:prstGeom>
        </p:spPr>
      </p:pic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2CB7F7-9E7E-9A63-0876-E78E87A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78E2DC-E558-A71F-21EF-CFAA4A9B30C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b="1">
                <a:latin typeface="+mj-lt"/>
              </a:rPr>
              <a:t>Engineering </a:t>
            </a:r>
            <a:r>
              <a:rPr lang="en-US" altLang="ko-KR">
                <a:latin typeface="+mj-lt"/>
              </a:rPr>
              <a:t>- </a:t>
            </a:r>
            <a:r>
              <a:rPr lang="en-US" altLang="ko-KR" err="1">
                <a:latin typeface="+mj-lt"/>
              </a:rPr>
              <a:t>Quantomize</a:t>
            </a:r>
            <a:endParaRPr lang="ko-KR" altLang="en-US">
              <a:latin typeface="+mj-lt"/>
            </a:endParaRPr>
          </a:p>
        </p:txBody>
      </p:sp>
      <p:sp>
        <p:nvSpPr>
          <p:cNvPr id="9" name="내용 개체 틀 7">
            <a:extLst>
              <a:ext uri="{FF2B5EF4-FFF2-40B4-BE49-F238E27FC236}">
                <a16:creationId xmlns:a16="http://schemas.microsoft.com/office/drawing/2014/main" id="{DEE38388-DFAD-106D-8C5C-4697A8E69FCA}"/>
              </a:ext>
            </a:extLst>
          </p:cNvPr>
          <p:cNvSpPr txBox="1">
            <a:spLocks/>
          </p:cNvSpPr>
          <p:nvPr/>
        </p:nvSpPr>
        <p:spPr>
          <a:xfrm>
            <a:off x="748862" y="940217"/>
            <a:ext cx="10691265" cy="7175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Normal GenAD Integration &amp; Evaluation</a:t>
            </a: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  <p:sp>
        <p:nvSpPr>
          <p:cNvPr id="13" name="슬라이드 번호 개체 틀 4">
            <a:extLst>
              <a:ext uri="{FF2B5EF4-FFF2-40B4-BE49-F238E27FC236}">
                <a16:creationId xmlns:a16="http://schemas.microsoft.com/office/drawing/2014/main" id="{BFE75A20-1D71-3D21-E16E-9FCDEC7B3B22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8</a:t>
            </a:r>
          </a:p>
        </p:txBody>
      </p:sp>
      <p:sp>
        <p:nvSpPr>
          <p:cNvPr id="5" name="내용 개체 틀 7">
            <a:extLst>
              <a:ext uri="{FF2B5EF4-FFF2-40B4-BE49-F238E27FC236}">
                <a16:creationId xmlns:a16="http://schemas.microsoft.com/office/drawing/2014/main" id="{7468BB19-F850-CF25-4082-5A8B08131893}"/>
              </a:ext>
            </a:extLst>
          </p:cNvPr>
          <p:cNvSpPr txBox="1">
            <a:spLocks/>
          </p:cNvSpPr>
          <p:nvPr/>
        </p:nvSpPr>
        <p:spPr>
          <a:xfrm>
            <a:off x="704761" y="4885964"/>
            <a:ext cx="10550428" cy="4185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/>
              <a:t>The unquantized GenAD runs at 3 Hz, while VAD tiny (</a:t>
            </a:r>
            <a:r>
              <a:rPr lang="en-US" altLang="ko-KR" sz="1200" dirty="0" err="1"/>
              <a:t>Autoware</a:t>
            </a:r>
            <a:r>
              <a:rPr lang="en-US" altLang="ko-KR" sz="1200" dirty="0"/>
              <a:t> baseline) achieves 10 Hz. The goal is to reach 10 Hz through </a:t>
            </a:r>
            <a:r>
              <a:rPr lang="en-US" altLang="ko-KR" sz="1200" dirty="0" err="1"/>
              <a:t>TensorRT</a:t>
            </a:r>
            <a:r>
              <a:rPr lang="en-US" altLang="ko-KR" sz="1200" dirty="0"/>
              <a:t> quantization.</a:t>
            </a:r>
          </a:p>
        </p:txBody>
      </p:sp>
      <p:sp>
        <p:nvSpPr>
          <p:cNvPr id="7" name="내용 개체 틀 7">
            <a:extLst>
              <a:ext uri="{FF2B5EF4-FFF2-40B4-BE49-F238E27FC236}">
                <a16:creationId xmlns:a16="http://schemas.microsoft.com/office/drawing/2014/main" id="{9AA65A69-54AD-B01A-3063-C24F95064F5E}"/>
              </a:ext>
            </a:extLst>
          </p:cNvPr>
          <p:cNvSpPr txBox="1">
            <a:spLocks/>
          </p:cNvSpPr>
          <p:nvPr/>
        </p:nvSpPr>
        <p:spPr>
          <a:xfrm>
            <a:off x="4691494" y="2295995"/>
            <a:ext cx="7315201" cy="5676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/>
              <a:t>Created two </a:t>
            </a:r>
            <a:r>
              <a:rPr lang="en-US" altLang="ko-KR" sz="1200" dirty="0" err="1"/>
              <a:t>Autoware</a:t>
            </a:r>
            <a:r>
              <a:rPr lang="en-US" altLang="ko-KR" sz="1200" dirty="0"/>
              <a:t> packages for GenAD evaluation: </a:t>
            </a:r>
            <a:r>
              <a:rPr lang="en-US" altLang="ko-KR" sz="1200" dirty="0" err="1"/>
              <a:t>autoware_tensorrt_genad</a:t>
            </a:r>
            <a:r>
              <a:rPr lang="en-US" altLang="ko-KR" sz="1200" dirty="0"/>
              <a:t> (quantized) and </a:t>
            </a:r>
            <a:r>
              <a:rPr lang="en-US" altLang="ko-KR" sz="1200" dirty="0" err="1"/>
              <a:t>autoware_normal_genad</a:t>
            </a:r>
            <a:r>
              <a:rPr lang="en-US" altLang="ko-KR" sz="1200" dirty="0"/>
              <a:t> (original). </a:t>
            </a:r>
          </a:p>
        </p:txBody>
      </p:sp>
    </p:spTree>
    <p:extLst>
      <p:ext uri="{BB962C8B-B14F-4D97-AF65-F5344CB8AC3E}">
        <p14:creationId xmlns:p14="http://schemas.microsoft.com/office/powerpoint/2010/main" val="162604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2F9F6-F0DF-54F4-4A69-50E868442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432AF0A-DAB0-628E-DA15-D9947316D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955695"/>
            <a:ext cx="10660355" cy="512302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GRPO Fine-Tuning: Loss Collapse at Epoch 2</a:t>
            </a: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Modified the RL approach from backpropagating through the entire model (hidden layers) to updating only the output layer weights, reducing computational cost while preserving pretrained representations.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However, the loss drops sharply at epoch 2, indicating potential reward hacking or gradient instability. Currently investigating the root cause and exploring solutions.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E0BB3D-6B10-36BE-15C9-6EC1CE8B0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B2ED65-AE82-0FDB-4A1F-B407D0B4F4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5" y="186558"/>
            <a:ext cx="4381947" cy="4206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altLang="ko-KR" b="1" dirty="0">
                <a:latin typeface="+mj-lt"/>
              </a:rPr>
              <a:t>Main</a:t>
            </a:r>
            <a:r>
              <a:rPr lang="ko-KR" altLang="en-US" b="1" dirty="0">
                <a:latin typeface="+mj-lt"/>
              </a:rPr>
              <a:t> </a:t>
            </a:r>
            <a:r>
              <a:rPr lang="en-US" altLang="ko-KR" b="1" dirty="0">
                <a:latin typeface="+mj-lt"/>
              </a:rPr>
              <a:t>Research </a:t>
            </a:r>
            <a:r>
              <a:rPr lang="en-US" altLang="ko-KR" dirty="0">
                <a:latin typeface="+mj-lt"/>
              </a:rPr>
              <a:t>- </a:t>
            </a:r>
            <a:r>
              <a:rPr lang="en-US" altLang="ko-KR" dirty="0" err="1">
                <a:latin typeface="+mj-lt"/>
              </a:rPr>
              <a:t>DiffusionPlanner</a:t>
            </a:r>
            <a:endParaRPr lang="ko-KR" altLang="en-US" dirty="0">
              <a:latin typeface="+mj-lt"/>
            </a:endParaRPr>
          </a:p>
        </p:txBody>
      </p:sp>
      <p:sp>
        <p:nvSpPr>
          <p:cNvPr id="11" name="슬라이드 번호 개체 틀 4">
            <a:extLst>
              <a:ext uri="{FF2B5EF4-FFF2-40B4-BE49-F238E27FC236}">
                <a16:creationId xmlns:a16="http://schemas.microsoft.com/office/drawing/2014/main" id="{20476D12-2F7D-01AA-44E3-A35902673457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2561155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2A53F8-B9CB-48BC-AEF9-102E7F51EE87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592</Words>
  <Application>Microsoft Office PowerPoint</Application>
  <PresentationFormat>와이드스크린</PresentationFormat>
  <Paragraphs>82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Calisto MT</vt:lpstr>
      <vt:lpstr>Univers Condensed</vt:lpstr>
      <vt:lpstr>ChronicleVTI</vt:lpstr>
      <vt:lpstr>Regular Research Seminar  </vt:lpstr>
      <vt:lpstr>TABLE OF CONTENTS</vt:lpstr>
      <vt:lpstr>How to use alpamayo</vt:lpstr>
      <vt:lpstr>What is sft, coc?</vt:lpstr>
      <vt:lpstr>Flexible multi-camera support</vt:lpstr>
      <vt:lpstr>conclusion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SuHan</dc:creator>
  <cp:lastModifiedBy>SuHan Yoon</cp:lastModifiedBy>
  <cp:revision>2</cp:revision>
  <dcterms:created xsi:type="dcterms:W3CDTF">2025-07-17T09:28:14Z</dcterms:created>
  <dcterms:modified xsi:type="dcterms:W3CDTF">2026-04-03T07:13:58Z</dcterms:modified>
</cp:coreProperties>
</file>